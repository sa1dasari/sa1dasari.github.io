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97" r:id="rId3"/>
    <p:sldId id="257" r:id="rId4"/>
    <p:sldId id="285" r:id="rId5"/>
    <p:sldId id="293" r:id="rId6"/>
    <p:sldId id="299" r:id="rId7"/>
    <p:sldId id="296" r:id="rId8"/>
    <p:sldId id="302" r:id="rId9"/>
    <p:sldId id="303" r:id="rId10"/>
    <p:sldId id="304" r:id="rId11"/>
    <p:sldId id="295" r:id="rId12"/>
    <p:sldId id="284" r:id="rId1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DCF51"/>
    <a:srgbClr val="F7B703"/>
    <a:srgbClr val="FFFFCC"/>
    <a:srgbClr val="FDDB7B"/>
    <a:srgbClr val="FCBB06"/>
    <a:srgbClr val="04064C"/>
    <a:srgbClr val="34411B"/>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0293" autoAdjust="0"/>
    <p:restoredTop sz="94321" autoAdjust="0"/>
  </p:normalViewPr>
  <p:slideViewPr>
    <p:cSldViewPr>
      <p:cViewPr varScale="1">
        <p:scale>
          <a:sx n="69" d="100"/>
          <a:sy n="69" d="100"/>
        </p:scale>
        <p:origin x="-1620" y="-96"/>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5E8083A5-835A-40A3-827E-61C33DF03009}" type="datetimeFigureOut">
              <a:rPr lang="en-US"/>
              <a:pPr>
                <a:defRPr/>
              </a:pPr>
              <a:t>12/27/2019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8D26484F-62D4-4800-A64A-6E4326EED9F5}" type="slidenum">
              <a:rPr lang="en-US"/>
              <a:pPr>
                <a:defRPr/>
              </a:pPr>
              <a:t>‹#›</a:t>
            </a:fld>
            <a:endParaRPr lang="en-US"/>
          </a:p>
        </p:txBody>
      </p:sp>
    </p:spTree>
    <p:extLst>
      <p:ext uri="{BB962C8B-B14F-4D97-AF65-F5344CB8AC3E}">
        <p14:creationId xmlns="" xmlns:p14="http://schemas.microsoft.com/office/powerpoint/2010/main" val="175443293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77416384-70EB-4F7A-A3EB-83E066DA6C13}" type="datetimeFigureOut">
              <a:rPr lang="en-US"/>
              <a:pPr>
                <a:defRPr/>
              </a:pPr>
              <a:t>12/27/2019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DB3A640-5A90-4EFE-8EE3-1763810B463C}"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92A7FFD-B393-4DE8-94CA-505F8CB7B4E1}" type="datetimeFigureOut">
              <a:rPr lang="en-US"/>
              <a:pPr>
                <a:defRPr/>
              </a:pPr>
              <a:t>12/27/2019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32FD1A0-CEE1-4C34-B837-4E0DE6B7364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E14209CC-5F62-4A0E-B68D-CDC1E312E65D}" type="datetimeFigureOut">
              <a:rPr lang="en-US"/>
              <a:pPr>
                <a:defRPr/>
              </a:pPr>
              <a:t>12/27/2019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1ABBB5-69A4-49F2-8625-894EA093618B}"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5294B881-E9C7-4238-86B8-C8704B287258}" type="datetimeFigureOut">
              <a:rPr lang="en-US"/>
              <a:pPr>
                <a:defRPr/>
              </a:pPr>
              <a:t>12/27/2019</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E2A47C7-26BB-4129-97B3-85EC2F2FAE32}"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82A3704-44A8-48FD-B28C-C72E0174B7A2}" type="datetimeFigureOut">
              <a:rPr lang="en-US"/>
              <a:pPr>
                <a:defRPr/>
              </a:pPr>
              <a:t>12/27/2019</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45E606B0-FB8B-4E2B-8CAD-CA27997D94FC}"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9D4978CF-B59D-4AAE-AE38-F349BE4E1F78}" type="datetimeFigureOut">
              <a:rPr lang="en-US"/>
              <a:pPr>
                <a:defRPr/>
              </a:pPr>
              <a:t>12/27/2019</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4FAA6506-7608-4C24-BDCA-7091E7897A21}"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38A00EB-B883-4DF0-92AB-E0F6B7566B2C}" type="datetimeFigureOut">
              <a:rPr lang="en-US"/>
              <a:pPr>
                <a:defRPr/>
              </a:pPr>
              <a:t>12/27/2019</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8E6B81CF-C30D-4F9D-9783-B5C15BB34D29}"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8205479-5FF7-42F7-9A14-3F7912E6F615}" type="datetimeFigureOut">
              <a:rPr lang="en-US"/>
              <a:pPr>
                <a:defRPr/>
              </a:pPr>
              <a:t>12/27/2019</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3237EFC-1C0A-4015-85CD-08B4E188667C}"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A547F86-7B90-484B-976C-E9C83B5E17BB}" type="datetimeFigureOut">
              <a:rPr lang="en-US"/>
              <a:pPr>
                <a:defRPr/>
              </a:pPr>
              <a:t>12/27/2019</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7BD6424-3123-41A5-8E55-1B3CB96D0489}"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F3DB4C-BF07-4AE8-BD70-46188008FA91}" type="datetimeFigureOut">
              <a:rPr lang="en-US"/>
              <a:pPr>
                <a:defRPr/>
              </a:pPr>
              <a:t>12/27/2019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785698F-5D70-447B-9640-2F5B44CB74D4}"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DB0C623-8BB3-4A0C-907C-C425B179B16C}" type="datetimeFigureOut">
              <a:rPr lang="en-US"/>
              <a:pPr>
                <a:defRPr/>
              </a:pPr>
              <a:t>12/27/2019</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1B2FCE0-F572-44D1-8EC6-98221A3D30E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8E78C4BE-6499-4547-96C5-BC05057DA7AD}" type="datetimeFigureOut">
              <a:rPr lang="en-US"/>
              <a:pPr>
                <a:defRPr/>
              </a:pPr>
              <a:t>12/27/2019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4A7FC8C8-D2D9-4AC5-BD62-E4E82A71281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5257800"/>
            <a:ext cx="9144000" cy="1600200"/>
          </a:xfrm>
        </p:spPr>
        <p:txBody>
          <a:bodyPr rtlCol="0">
            <a:normAutofit fontScale="92500" lnSpcReduction="20000"/>
          </a:bodyPr>
          <a:lstStyle/>
          <a:p>
            <a:pPr algn="r" eaLnBrk="1" fontAlgn="auto" hangingPunct="1">
              <a:spcAft>
                <a:spcPts val="0"/>
              </a:spcAft>
              <a:buFont typeface="Arial" pitchFamily="34" charset="0"/>
              <a:buNone/>
              <a:defRPr/>
            </a:pPr>
            <a:r>
              <a:rPr lang="en-US" sz="2000" b="1" dirty="0">
                <a:solidFill>
                  <a:schemeClr val="tx2">
                    <a:lumMod val="50000"/>
                  </a:schemeClr>
                </a:solidFill>
                <a:latin typeface="Bookman Old Style" pitchFamily="18" charset="0"/>
              </a:rPr>
              <a:t>           Presented by</a:t>
            </a:r>
          </a:p>
          <a:p>
            <a:pPr algn="r" eaLnBrk="1" fontAlgn="auto" hangingPunct="1">
              <a:spcAft>
                <a:spcPts val="0"/>
              </a:spcAft>
              <a:defRPr/>
            </a:pPr>
            <a:r>
              <a:rPr lang="en-US" sz="2000" b="1" dirty="0" err="1">
                <a:solidFill>
                  <a:schemeClr val="tx2">
                    <a:lumMod val="50000"/>
                  </a:schemeClr>
                </a:solidFill>
                <a:latin typeface="Bookman Old Style" pitchFamily="18" charset="0"/>
              </a:rPr>
              <a:t>Sawan</a:t>
            </a:r>
            <a:r>
              <a:rPr lang="en-US" sz="2000" b="1" dirty="0">
                <a:solidFill>
                  <a:schemeClr val="tx2">
                    <a:lumMod val="50000"/>
                  </a:schemeClr>
                </a:solidFill>
                <a:latin typeface="Bookman Old Style" pitchFamily="18" charset="0"/>
              </a:rPr>
              <a:t> </a:t>
            </a:r>
            <a:r>
              <a:rPr lang="en-US" sz="2000" b="1" dirty="0" err="1">
                <a:solidFill>
                  <a:schemeClr val="tx2">
                    <a:lumMod val="50000"/>
                  </a:schemeClr>
                </a:solidFill>
                <a:latin typeface="Bookman Old Style" pitchFamily="18" charset="0"/>
              </a:rPr>
              <a:t>Dasari</a:t>
            </a:r>
            <a:r>
              <a:rPr lang="en-US" sz="2000" b="1" dirty="0">
                <a:solidFill>
                  <a:schemeClr val="tx2">
                    <a:lumMod val="50000"/>
                  </a:schemeClr>
                </a:solidFill>
                <a:latin typeface="Bookman Old Style" pitchFamily="18" charset="0"/>
              </a:rPr>
              <a:t> : 17211a0558</a:t>
            </a:r>
          </a:p>
          <a:p>
            <a:pPr algn="r" eaLnBrk="1" fontAlgn="auto" hangingPunct="1">
              <a:spcAft>
                <a:spcPts val="0"/>
              </a:spcAft>
              <a:defRPr/>
            </a:pPr>
            <a:r>
              <a:rPr lang="en-US" sz="2000" b="1" dirty="0">
                <a:solidFill>
                  <a:schemeClr val="tx2">
                    <a:lumMod val="50000"/>
                  </a:schemeClr>
                </a:solidFill>
                <a:latin typeface="Bookman Old Style" pitchFamily="18" charset="0"/>
              </a:rPr>
              <a:t>    </a:t>
            </a:r>
            <a:r>
              <a:rPr lang="en-US" sz="2000" b="1" dirty="0" err="1">
                <a:solidFill>
                  <a:schemeClr val="tx2">
                    <a:lumMod val="50000"/>
                  </a:schemeClr>
                </a:solidFill>
                <a:latin typeface="Bookman Old Style" pitchFamily="18" charset="0"/>
              </a:rPr>
              <a:t>CH.Abhinav</a:t>
            </a:r>
            <a:r>
              <a:rPr lang="en-US" sz="2000" b="1" dirty="0">
                <a:solidFill>
                  <a:schemeClr val="tx2">
                    <a:lumMod val="50000"/>
                  </a:schemeClr>
                </a:solidFill>
                <a:latin typeface="Bookman Old Style" pitchFamily="18" charset="0"/>
              </a:rPr>
              <a:t> </a:t>
            </a:r>
            <a:r>
              <a:rPr lang="en-US" sz="2000" b="1" dirty="0" err="1">
                <a:solidFill>
                  <a:schemeClr val="tx2">
                    <a:lumMod val="50000"/>
                  </a:schemeClr>
                </a:solidFill>
                <a:latin typeface="Bookman Old Style" pitchFamily="18" charset="0"/>
              </a:rPr>
              <a:t>Goud</a:t>
            </a:r>
            <a:r>
              <a:rPr lang="en-US" sz="2000" b="1" dirty="0">
                <a:solidFill>
                  <a:schemeClr val="tx2">
                    <a:lumMod val="50000"/>
                  </a:schemeClr>
                </a:solidFill>
                <a:latin typeface="Bookman Old Style" pitchFamily="18" charset="0"/>
              </a:rPr>
              <a:t> : 17211a0547</a:t>
            </a:r>
          </a:p>
          <a:p>
            <a:pPr algn="r" eaLnBrk="1" fontAlgn="auto" hangingPunct="1">
              <a:spcAft>
                <a:spcPts val="0"/>
              </a:spcAft>
              <a:defRPr/>
            </a:pPr>
            <a:r>
              <a:rPr lang="en-US" sz="2000" b="1" dirty="0" err="1">
                <a:solidFill>
                  <a:schemeClr val="tx2">
                    <a:lumMod val="50000"/>
                  </a:schemeClr>
                </a:solidFill>
                <a:latin typeface="Bookman Old Style" pitchFamily="18" charset="0"/>
              </a:rPr>
              <a:t>B.Srikar</a:t>
            </a:r>
            <a:r>
              <a:rPr lang="en-US" sz="2000" b="1" dirty="0">
                <a:solidFill>
                  <a:schemeClr val="tx2">
                    <a:lumMod val="50000"/>
                  </a:schemeClr>
                </a:solidFill>
                <a:latin typeface="Bookman Old Style" pitchFamily="18" charset="0"/>
              </a:rPr>
              <a:t> </a:t>
            </a:r>
            <a:r>
              <a:rPr lang="en-US" sz="2000" b="1" dirty="0" err="1">
                <a:solidFill>
                  <a:schemeClr val="tx2">
                    <a:lumMod val="50000"/>
                  </a:schemeClr>
                </a:solidFill>
                <a:latin typeface="Bookman Old Style" pitchFamily="18" charset="0"/>
              </a:rPr>
              <a:t>Raju</a:t>
            </a:r>
            <a:r>
              <a:rPr lang="en-US" sz="2000" b="1" dirty="0">
                <a:solidFill>
                  <a:schemeClr val="tx2">
                    <a:lumMod val="50000"/>
                  </a:schemeClr>
                </a:solidFill>
                <a:latin typeface="Bookman Old Style" pitchFamily="18" charset="0"/>
              </a:rPr>
              <a:t> : 17211a0534</a:t>
            </a:r>
          </a:p>
          <a:p>
            <a:pPr algn="r" eaLnBrk="1" fontAlgn="auto" hangingPunct="1">
              <a:spcAft>
                <a:spcPts val="0"/>
              </a:spcAft>
              <a:defRPr/>
            </a:pPr>
            <a:r>
              <a:rPr lang="en-US" sz="2000" b="1" dirty="0">
                <a:solidFill>
                  <a:schemeClr val="tx2">
                    <a:lumMod val="50000"/>
                  </a:schemeClr>
                </a:solidFill>
                <a:latin typeface="Bookman Old Style" pitchFamily="18" charset="0"/>
              </a:rPr>
              <a:t>D. Rama </a:t>
            </a:r>
            <a:r>
              <a:rPr lang="en-US" sz="2000" b="1" dirty="0" err="1">
                <a:solidFill>
                  <a:schemeClr val="tx2">
                    <a:lumMod val="50000"/>
                  </a:schemeClr>
                </a:solidFill>
                <a:latin typeface="Bookman Old Style" pitchFamily="18" charset="0"/>
              </a:rPr>
              <a:t>Raghava</a:t>
            </a:r>
            <a:r>
              <a:rPr lang="en-US" sz="2000" b="1" dirty="0">
                <a:solidFill>
                  <a:schemeClr val="tx2">
                    <a:lumMod val="50000"/>
                  </a:schemeClr>
                </a:solidFill>
                <a:latin typeface="Bookman Old Style" pitchFamily="18" charset="0"/>
              </a:rPr>
              <a:t> </a:t>
            </a:r>
            <a:r>
              <a:rPr lang="en-US" sz="2000" b="1" dirty="0" err="1">
                <a:solidFill>
                  <a:schemeClr val="tx2">
                    <a:lumMod val="50000"/>
                  </a:schemeClr>
                </a:solidFill>
                <a:latin typeface="Bookman Old Style" pitchFamily="18" charset="0"/>
              </a:rPr>
              <a:t>Raju</a:t>
            </a:r>
            <a:r>
              <a:rPr lang="en-US" sz="2000" b="1" dirty="0">
                <a:solidFill>
                  <a:schemeClr val="tx2">
                    <a:lumMod val="50000"/>
                  </a:schemeClr>
                </a:solidFill>
                <a:latin typeface="Bookman Old Style" pitchFamily="18" charset="0"/>
              </a:rPr>
              <a:t> : 17211a0556</a:t>
            </a:r>
          </a:p>
        </p:txBody>
      </p:sp>
      <p:sp>
        <p:nvSpPr>
          <p:cNvPr id="8" name="TextBox 7"/>
          <p:cNvSpPr txBox="1"/>
          <p:nvPr/>
        </p:nvSpPr>
        <p:spPr>
          <a:xfrm>
            <a:off x="0" y="3867150"/>
            <a:ext cx="9144000" cy="400050"/>
          </a:xfrm>
          <a:prstGeom prst="rect">
            <a:avLst/>
          </a:prstGeom>
          <a:solidFill>
            <a:srgbClr val="FCBB06"/>
          </a:solidFill>
        </p:spPr>
        <p:txBody>
          <a:bodyPr>
            <a:spAutoFit/>
          </a:bodyPr>
          <a:lstStyle/>
          <a:p>
            <a:pPr algn="ctr" fontAlgn="auto">
              <a:spcBef>
                <a:spcPts val="0"/>
              </a:spcBef>
              <a:spcAft>
                <a:spcPts val="0"/>
              </a:spcAft>
              <a:defRPr/>
            </a:pPr>
            <a:r>
              <a:rPr lang="en-US" sz="2000" b="1" dirty="0">
                <a:solidFill>
                  <a:schemeClr val="tx2">
                    <a:lumMod val="50000"/>
                  </a:schemeClr>
                </a:solidFill>
                <a:latin typeface="Bookman Old Style" pitchFamily="18" charset="0"/>
                <a:cs typeface="Times New Roman" pitchFamily="18" charset="0"/>
              </a:rPr>
              <a:t>Under the Guidance of </a:t>
            </a:r>
          </a:p>
        </p:txBody>
      </p:sp>
      <p:sp>
        <p:nvSpPr>
          <p:cNvPr id="4" name="Rounded Rectangle 3"/>
          <p:cNvSpPr/>
          <p:nvPr/>
        </p:nvSpPr>
        <p:spPr>
          <a:xfrm>
            <a:off x="609600" y="1905000"/>
            <a:ext cx="8001000" cy="1752600"/>
          </a:xfrm>
          <a:prstGeom prst="roundRect">
            <a:avLst/>
          </a:prstGeom>
          <a:solidFill>
            <a:srgbClr val="0406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Bookman Old Style" pitchFamily="18" charset="0"/>
            </a:endParaRPr>
          </a:p>
        </p:txBody>
      </p:sp>
      <p:sp>
        <p:nvSpPr>
          <p:cNvPr id="2054" name="Title 6"/>
          <p:cNvSpPr>
            <a:spLocks noGrp="1"/>
          </p:cNvSpPr>
          <p:nvPr>
            <p:ph type="ctrTitle"/>
          </p:nvPr>
        </p:nvSpPr>
        <p:spPr>
          <a:xfrm>
            <a:off x="685800" y="2035175"/>
            <a:ext cx="7772400" cy="1470025"/>
          </a:xfrm>
        </p:spPr>
        <p:txBody>
          <a:bodyPr/>
          <a:lstStyle/>
          <a:p>
            <a:pPr eaLnBrk="1" hangingPunct="1"/>
            <a:r>
              <a:rPr lang="en-US" sz="3800" b="1" dirty="0">
                <a:solidFill>
                  <a:schemeClr val="bg1"/>
                </a:solidFill>
                <a:latin typeface="Franklin Gothic Medium" pitchFamily="34" charset="0"/>
                <a:cs typeface="Arial" charset="0"/>
              </a:rPr>
              <a:t>E-Fresh : Food Freshness Detector</a:t>
            </a:r>
          </a:p>
        </p:txBody>
      </p:sp>
      <p:sp>
        <p:nvSpPr>
          <p:cNvPr id="10" name="Rectangle 9"/>
          <p:cNvSpPr/>
          <p:nvPr/>
        </p:nvSpPr>
        <p:spPr>
          <a:xfrm>
            <a:off x="4800600" y="0"/>
            <a:ext cx="4343400" cy="1570038"/>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latin typeface="Bookman Old Style" pitchFamily="18" charset="0"/>
            </a:endParaRPr>
          </a:p>
        </p:txBody>
      </p:sp>
      <p:sp>
        <p:nvSpPr>
          <p:cNvPr id="12" name="Rectangle 11"/>
          <p:cNvSpPr/>
          <p:nvPr/>
        </p:nvSpPr>
        <p:spPr>
          <a:xfrm>
            <a:off x="0" y="0"/>
            <a:ext cx="4795838" cy="1570038"/>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Bookman Old Style" pitchFamily="18" charset="0"/>
            </a:endParaRPr>
          </a:p>
        </p:txBody>
      </p:sp>
      <p:sp>
        <p:nvSpPr>
          <p:cNvPr id="14" name="TextBox 13"/>
          <p:cNvSpPr txBox="1"/>
          <p:nvPr/>
        </p:nvSpPr>
        <p:spPr>
          <a:xfrm>
            <a:off x="0" y="4267200"/>
            <a:ext cx="9144000" cy="1015663"/>
          </a:xfrm>
          <a:prstGeom prst="rect">
            <a:avLst/>
          </a:prstGeom>
          <a:solidFill>
            <a:srgbClr val="FDCF51"/>
          </a:solidFill>
        </p:spPr>
        <p:txBody>
          <a:bodyPr>
            <a:spAutoFit/>
          </a:bodyPr>
          <a:lstStyle/>
          <a:p>
            <a:pPr algn="ctr" fontAlgn="auto">
              <a:spcBef>
                <a:spcPts val="0"/>
              </a:spcBef>
              <a:spcAft>
                <a:spcPts val="0"/>
              </a:spcAft>
              <a:defRPr/>
            </a:pPr>
            <a:r>
              <a:rPr lang="en-US" sz="2000" b="1" dirty="0">
                <a:solidFill>
                  <a:schemeClr val="tx2">
                    <a:lumMod val="50000"/>
                  </a:schemeClr>
                </a:solidFill>
                <a:latin typeface="Bookman Old Style" pitchFamily="18" charset="0"/>
                <a:cs typeface="Times New Roman" pitchFamily="18" charset="0"/>
              </a:rPr>
              <a:t>Dr . Suresh </a:t>
            </a:r>
            <a:r>
              <a:rPr lang="en-US" sz="2000" b="1" dirty="0" err="1">
                <a:solidFill>
                  <a:schemeClr val="tx2">
                    <a:lumMod val="50000"/>
                  </a:schemeClr>
                </a:solidFill>
                <a:latin typeface="Bookman Old Style" pitchFamily="18" charset="0"/>
                <a:cs typeface="Times New Roman" pitchFamily="18" charset="0"/>
              </a:rPr>
              <a:t>Dara</a:t>
            </a:r>
            <a:r>
              <a:rPr lang="en-US" sz="2000" b="1" dirty="0">
                <a:solidFill>
                  <a:schemeClr val="tx2">
                    <a:lumMod val="50000"/>
                  </a:schemeClr>
                </a:solidFill>
                <a:latin typeface="Bookman Old Style" pitchFamily="18" charset="0"/>
                <a:cs typeface="Times New Roman" pitchFamily="18" charset="0"/>
              </a:rPr>
              <a:t> , </a:t>
            </a:r>
            <a:r>
              <a:rPr lang="en-US" sz="1600" b="1" dirty="0">
                <a:solidFill>
                  <a:schemeClr val="tx2">
                    <a:lumMod val="50000"/>
                  </a:schemeClr>
                </a:solidFill>
                <a:latin typeface="Bookman Old Style" pitchFamily="18" charset="0"/>
                <a:cs typeface="Times New Roman" pitchFamily="18" charset="0"/>
              </a:rPr>
              <a:t>Professor</a:t>
            </a:r>
            <a:endParaRPr lang="en-US" sz="2000" b="1" dirty="0">
              <a:solidFill>
                <a:schemeClr val="tx2">
                  <a:lumMod val="50000"/>
                </a:schemeClr>
              </a:solidFill>
              <a:latin typeface="Bookman Old Style" pitchFamily="18" charset="0"/>
              <a:cs typeface="Times New Roman" pitchFamily="18" charset="0"/>
            </a:endParaRPr>
          </a:p>
          <a:p>
            <a:pPr algn="ctr" fontAlgn="auto">
              <a:spcBef>
                <a:spcPts val="0"/>
              </a:spcBef>
              <a:spcAft>
                <a:spcPts val="0"/>
              </a:spcAft>
              <a:defRPr/>
            </a:pPr>
            <a:r>
              <a:rPr lang="en-US" sz="2000" b="1" dirty="0">
                <a:solidFill>
                  <a:srgbClr val="002060"/>
                </a:solidFill>
                <a:latin typeface="Bookman Old Style" pitchFamily="18" charset="0"/>
                <a:cs typeface="Arial" pitchFamily="34" charset="0"/>
              </a:rPr>
              <a:t>Department of Computer Science &amp; Engineering</a:t>
            </a:r>
          </a:p>
          <a:p>
            <a:pPr algn="ctr" fontAlgn="auto">
              <a:spcBef>
                <a:spcPts val="0"/>
              </a:spcBef>
              <a:spcAft>
                <a:spcPts val="0"/>
              </a:spcAft>
              <a:defRPr/>
            </a:pPr>
            <a:r>
              <a:rPr lang="en-US" sz="2000" b="1" dirty="0">
                <a:solidFill>
                  <a:srgbClr val="002060"/>
                </a:solidFill>
                <a:latin typeface="Bookman Old Style" pitchFamily="18" charset="0"/>
                <a:cs typeface="Arial" pitchFamily="34" charset="0"/>
              </a:rPr>
              <a:t>B V </a:t>
            </a:r>
            <a:r>
              <a:rPr lang="en-US" sz="2000" b="1" dirty="0" err="1">
                <a:solidFill>
                  <a:srgbClr val="002060"/>
                </a:solidFill>
                <a:latin typeface="Bookman Old Style" pitchFamily="18" charset="0"/>
                <a:cs typeface="Arial" pitchFamily="34" charset="0"/>
              </a:rPr>
              <a:t>Raju</a:t>
            </a:r>
            <a:r>
              <a:rPr lang="en-US" sz="2000" b="1" dirty="0">
                <a:solidFill>
                  <a:srgbClr val="002060"/>
                </a:solidFill>
                <a:latin typeface="Bookman Old Style" pitchFamily="18" charset="0"/>
                <a:cs typeface="Arial" pitchFamily="34" charset="0"/>
              </a:rPr>
              <a:t> Institute of Technology, </a:t>
            </a:r>
            <a:r>
              <a:rPr lang="en-US" sz="2000" b="1" dirty="0" err="1">
                <a:solidFill>
                  <a:srgbClr val="002060"/>
                </a:solidFill>
                <a:latin typeface="Bookman Old Style" pitchFamily="18" charset="0"/>
                <a:cs typeface="Arial" pitchFamily="34" charset="0"/>
              </a:rPr>
              <a:t>Narsapur</a:t>
            </a:r>
            <a:r>
              <a:rPr lang="en-US" sz="2000" b="1" dirty="0">
                <a:solidFill>
                  <a:srgbClr val="002060"/>
                </a:solidFill>
                <a:latin typeface="Bookman Old Style" pitchFamily="18" charset="0"/>
                <a:cs typeface="Arial" pitchFamily="34" charset="0"/>
              </a:rPr>
              <a:t> </a:t>
            </a:r>
            <a:endParaRPr lang="en-US" sz="2000" b="1" dirty="0">
              <a:solidFill>
                <a:srgbClr val="002060"/>
              </a:solidFill>
              <a:latin typeface="Bookman Old Style" pitchFamily="18" charset="0"/>
              <a:cs typeface="Times New Roman" pitchFamily="18" charset="0"/>
            </a:endParaRPr>
          </a:p>
        </p:txBody>
      </p:sp>
      <p:pic>
        <p:nvPicPr>
          <p:cNvPr id="2063" name="Picture 15" descr="http://vishnu.edu.in/uploadnews/logo.jpg"/>
          <p:cNvPicPr>
            <a:picLocks noChangeAspect="1" noChangeArrowheads="1"/>
          </p:cNvPicPr>
          <p:nvPr/>
        </p:nvPicPr>
        <p:blipFill>
          <a:blip r:embed="rId2" cstate="print"/>
          <a:srcRect/>
          <a:stretch>
            <a:fillRect/>
          </a:stretch>
        </p:blipFill>
        <p:spPr bwMode="auto">
          <a:xfrm>
            <a:off x="7534386" y="0"/>
            <a:ext cx="1609613" cy="1600200"/>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Bookman Old Style" pitchFamily="18" charset="0"/>
            </a:endParaRPr>
          </a:p>
        </p:txBody>
      </p:sp>
      <p:sp>
        <p:nvSpPr>
          <p:cNvPr id="4" name="Rectangle 3"/>
          <p:cNvSpPr/>
          <p:nvPr/>
        </p:nvSpPr>
        <p:spPr>
          <a:xfrm>
            <a:off x="4795838" y="0"/>
            <a:ext cx="4343400" cy="2057400"/>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400" b="1" dirty="0" smtClean="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Proposed</a:t>
            </a:r>
            <a:r>
              <a:rPr lang="en-US" sz="1400" b="1" dirty="0" smtClean="0">
                <a:solidFill>
                  <a:schemeClr val="tx1">
                    <a:lumMod val="95000"/>
                    <a:lumOff val="5000"/>
                  </a:schemeClr>
                </a:solidFill>
                <a:latin typeface="Bookman Old Style" pitchFamily="18" charset="0"/>
              </a:rPr>
              <a:t> </a:t>
            </a:r>
            <a:r>
              <a:rPr lang="en-US" sz="1400" dirty="0" smtClean="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Software/Hardware Requirements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Architecture Model</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UML  Diagrams/ER Diagrams/Flow Charts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References</a:t>
            </a:r>
          </a:p>
        </p:txBody>
      </p:sp>
      <p:sp>
        <p:nvSpPr>
          <p:cNvPr id="5" name="Rectangle 4"/>
          <p:cNvSpPr/>
          <p:nvPr/>
        </p:nvSpPr>
        <p:spPr>
          <a:xfrm>
            <a:off x="0" y="0"/>
            <a:ext cx="4795838" cy="2057399"/>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3200" b="1" dirty="0">
                <a:solidFill>
                  <a:schemeClr val="tx1"/>
                </a:solidFill>
                <a:latin typeface="Bookman Old Style" pitchFamily="18" charset="0"/>
                <a:cs typeface="Times New Roman" panose="02020603050405020304" pitchFamily="18" charset="0"/>
              </a:rPr>
              <a:t>Abstract</a:t>
            </a:r>
          </a:p>
        </p:txBody>
      </p:sp>
      <p:sp>
        <p:nvSpPr>
          <p:cNvPr id="6" name="Content Placeholder 2"/>
          <p:cNvSpPr txBox="1">
            <a:spLocks/>
          </p:cNvSpPr>
          <p:nvPr/>
        </p:nvSpPr>
        <p:spPr bwMode="auto">
          <a:xfrm>
            <a:off x="342900" y="2209800"/>
            <a:ext cx="8542930" cy="426720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r>
              <a:rPr lang="en-US" sz="1800" dirty="0">
                <a:latin typeface="Bookman Old Style" pitchFamily="18" charset="0"/>
                <a:cs typeface="Times New Roman" pitchFamily="18" charset="0"/>
              </a:rPr>
              <a:t>The food we consumes provide nourishment and gives energy to our body, it gives us the ability to do daily activities and help improves our health in direct as well as indirect ways. A healthy and fresh diet is the most important way to keep ourselves fit. The food items kept at room temperature undergo rapid bacterial growth and chemical changes in food. Taking unhealthy food leads to bad health, and can cause different food borne diseases. The purpose to use biosensor and electrical sensors is to determine the freshness of food. A smart system which can detect the freshness of household food like dairy items, meat, and fruits. The identification and selection of </a:t>
            </a:r>
            <a:r>
              <a:rPr lang="en-US" sz="1800" b="1" dirty="0">
                <a:latin typeface="Bookman Old Style" pitchFamily="18" charset="0"/>
                <a:cs typeface="Times New Roman" pitchFamily="18" charset="0"/>
              </a:rPr>
              <a:t>pH sensor and Gas sensor</a:t>
            </a:r>
            <a:r>
              <a:rPr lang="en-US" sz="1800" dirty="0">
                <a:latin typeface="Bookman Old Style" pitchFamily="18" charset="0"/>
                <a:cs typeface="Times New Roman" pitchFamily="18" charset="0"/>
              </a:rPr>
              <a:t> to develop a smart food freshness detector ensures the freshness of food and tells whether to eat it or bin it. An android application is developed to select the type of food to be checked.</a:t>
            </a:r>
          </a:p>
          <a:p>
            <a:pPr algn="just"/>
            <a:r>
              <a:rPr lang="en-US" sz="1800" b="1" dirty="0">
                <a:latin typeface="Bookman Old Style" pitchFamily="18" charset="0"/>
                <a:cs typeface="Times New Roman" pitchFamily="18" charset="0"/>
              </a:rPr>
              <a:t>Keywords:</a:t>
            </a:r>
            <a:r>
              <a:rPr lang="en-US" sz="1800" dirty="0">
                <a:latin typeface="Bookman Old Style" pitchFamily="18" charset="0"/>
                <a:cs typeface="Times New Roman" pitchFamily="18" charset="0"/>
              </a:rPr>
              <a:t> Food Freshness; pH Sensor ; Gas Sensor; Arduino Uno </a:t>
            </a:r>
          </a:p>
        </p:txBody>
      </p:sp>
    </p:spTree>
    <p:extLst>
      <p:ext uri="{BB962C8B-B14F-4D97-AF65-F5344CB8AC3E}">
        <p14:creationId xmlns="" xmlns:p14="http://schemas.microsoft.com/office/powerpoint/2010/main" val="2411378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4795838" y="1"/>
            <a:ext cx="4343400" cy="1981200"/>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b="1" dirty="0" smtClean="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Proposed</a:t>
            </a:r>
            <a:r>
              <a:rPr lang="en-US" sz="1400" b="1" dirty="0" smtClean="0">
                <a:solidFill>
                  <a:schemeClr val="tx1">
                    <a:lumMod val="95000"/>
                    <a:lumOff val="5000"/>
                  </a:schemeClr>
                </a:solidFill>
                <a:latin typeface="Bookman Old Style" pitchFamily="18" charset="0"/>
              </a:rPr>
              <a:t> </a:t>
            </a:r>
            <a:r>
              <a:rPr lang="en-US" sz="1400" dirty="0" smtClean="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Software/Hardware Requirements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Architecture Model</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UML  Diagrams/ER Diagrams/Flow Charts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References</a:t>
            </a:r>
          </a:p>
        </p:txBody>
      </p:sp>
      <p:sp>
        <p:nvSpPr>
          <p:cNvPr id="11" name="Rectangle 10"/>
          <p:cNvSpPr/>
          <p:nvPr/>
        </p:nvSpPr>
        <p:spPr>
          <a:xfrm>
            <a:off x="0" y="1"/>
            <a:ext cx="4795838" cy="1981200"/>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Bookman Old Style" pitchFamily="18" charset="0"/>
            </a:endParaRPr>
          </a:p>
        </p:txBody>
      </p:sp>
      <p:sp>
        <p:nvSpPr>
          <p:cNvPr id="8" name="TextBox 7"/>
          <p:cNvSpPr txBox="1"/>
          <p:nvPr/>
        </p:nvSpPr>
        <p:spPr>
          <a:xfrm>
            <a:off x="0" y="1335087"/>
            <a:ext cx="4795838" cy="646113"/>
          </a:xfrm>
          <a:prstGeom prst="rect">
            <a:avLst/>
          </a:prstGeom>
          <a:noFill/>
        </p:spPr>
        <p:txBody>
          <a:bodyPr>
            <a:spAutoFit/>
          </a:bodyPr>
          <a:lstStyle/>
          <a:p>
            <a:pPr fontAlgn="auto">
              <a:spcBef>
                <a:spcPts val="0"/>
              </a:spcBef>
              <a:spcAft>
                <a:spcPts val="0"/>
              </a:spcAft>
              <a:defRPr/>
            </a:pPr>
            <a:r>
              <a:rPr lang="en-US" sz="3600" b="1" dirty="0">
                <a:solidFill>
                  <a:schemeClr val="tx2">
                    <a:lumMod val="75000"/>
                  </a:schemeClr>
                </a:solidFill>
                <a:latin typeface="Bookman Old Style" pitchFamily="18" charset="0"/>
                <a:cs typeface="Times New Roman" pitchFamily="18" charset="0"/>
              </a:rPr>
              <a:t>Introduction</a:t>
            </a:r>
            <a:endParaRPr lang="en-GB" sz="3600" dirty="0">
              <a:solidFill>
                <a:schemeClr val="tx2">
                  <a:lumMod val="75000"/>
                </a:schemeClr>
              </a:solidFill>
              <a:latin typeface="Bookman Old Style" pitchFamily="18" charset="0"/>
              <a:cs typeface="Times New Roman" pitchFamily="18" charset="0"/>
            </a:endParaRPr>
          </a:p>
        </p:txBody>
      </p:sp>
      <p:sp>
        <p:nvSpPr>
          <p:cNvPr id="3" name="Content Placeholder 2"/>
          <p:cNvSpPr>
            <a:spLocks noGrp="1"/>
          </p:cNvSpPr>
          <p:nvPr>
            <p:ph idx="1"/>
          </p:nvPr>
        </p:nvSpPr>
        <p:spPr>
          <a:xfrm>
            <a:off x="342900" y="2133601"/>
            <a:ext cx="8542930" cy="4343400"/>
          </a:xfrm>
        </p:spPr>
        <p:txBody>
          <a:bodyPr/>
          <a:lstStyle/>
          <a:p>
            <a:pPr algn="just"/>
            <a:r>
              <a:rPr lang="en-US" sz="1800" dirty="0">
                <a:latin typeface="Bookman Old Style" pitchFamily="18" charset="0"/>
                <a:cs typeface="Times New Roman" pitchFamily="18" charset="0"/>
              </a:rPr>
              <a:t> The food we consume can affect in any form of contamination that may occur due to storage or chemical changes within the food. There are several viruses and bacteria that causes food contamination and leads to numerous food borne diseases, for example Norovirus a very contagious virus caused by contaminated food or water. </a:t>
            </a:r>
            <a:r>
              <a:rPr lang="en-US" sz="1800" b="1" dirty="0">
                <a:latin typeface="Bookman Old Style" pitchFamily="18" charset="0"/>
                <a:cs typeface="Times New Roman" pitchFamily="18" charset="0"/>
              </a:rPr>
              <a:t>About</a:t>
            </a:r>
            <a:r>
              <a:rPr lang="en-US" sz="1800" dirty="0">
                <a:latin typeface="Bookman Old Style" pitchFamily="18" charset="0"/>
                <a:cs typeface="Times New Roman" pitchFamily="18" charset="0"/>
              </a:rPr>
              <a:t> </a:t>
            </a:r>
            <a:r>
              <a:rPr lang="en-US" sz="1800" b="1" dirty="0">
                <a:latin typeface="Bookman Old Style" pitchFamily="18" charset="0"/>
                <a:cs typeface="Times New Roman" pitchFamily="18" charset="0"/>
              </a:rPr>
              <a:t>351,000 people die of food poisoning globally every </a:t>
            </a:r>
            <a:r>
              <a:rPr lang="en-US" sz="1800" b="1" dirty="0" err="1">
                <a:latin typeface="Bookman Old Style" pitchFamily="18" charset="0"/>
                <a:cs typeface="Times New Roman" pitchFamily="18" charset="0"/>
              </a:rPr>
              <a:t>year</a:t>
            </a:r>
            <a:r>
              <a:rPr lang="en-US" sz="1800" dirty="0" err="1">
                <a:latin typeface="Bookman Old Style" pitchFamily="18" charset="0"/>
                <a:cs typeface="Times New Roman" pitchFamily="18" charset="0"/>
              </a:rPr>
              <a:t>.It</a:t>
            </a:r>
            <a:r>
              <a:rPr lang="en-US" sz="1800" dirty="0">
                <a:latin typeface="Bookman Old Style" pitchFamily="18" charset="0"/>
                <a:cs typeface="Times New Roman" pitchFamily="18" charset="0"/>
              </a:rPr>
              <a:t> is necessary to develop a system that can help people to identify the freshness of food or quality of food items. Our proposed system may give the good quality (freshness) management in food. It is based on electrical, and biosensors. Biosensors play a vital role to detect the bacterial contamination in food sample. Based on the combination of the sensor outputs quality of the food should be detected.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4800600" y="0"/>
            <a:ext cx="4343400" cy="1980467"/>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US" dirty="0">
              <a:solidFill>
                <a:schemeClr val="bg1">
                  <a:lumMod val="50000"/>
                </a:schemeClr>
              </a:solidFill>
              <a:latin typeface="Bookman Old Style" pitchFamily="18" charset="0"/>
              <a:cs typeface="Times New Roman" pitchFamily="18" charset="0"/>
            </a:endParaRPr>
          </a:p>
        </p:txBody>
      </p:sp>
      <p:sp>
        <p:nvSpPr>
          <p:cNvPr id="10" name="Rectangle 9"/>
          <p:cNvSpPr/>
          <p:nvPr/>
        </p:nvSpPr>
        <p:spPr>
          <a:xfrm>
            <a:off x="0" y="0"/>
            <a:ext cx="4795838" cy="1981418"/>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Bookman Old Style" pitchFamily="18" charset="0"/>
            </a:endParaRPr>
          </a:p>
        </p:txBody>
      </p:sp>
      <p:sp>
        <p:nvSpPr>
          <p:cNvPr id="8" name="TextBox 7"/>
          <p:cNvSpPr txBox="1"/>
          <p:nvPr/>
        </p:nvSpPr>
        <p:spPr>
          <a:xfrm>
            <a:off x="152400" y="1278562"/>
            <a:ext cx="4795838" cy="646331"/>
          </a:xfrm>
          <a:prstGeom prst="rect">
            <a:avLst/>
          </a:prstGeom>
          <a:noFill/>
        </p:spPr>
        <p:txBody>
          <a:bodyPr>
            <a:spAutoFit/>
          </a:bodyPr>
          <a:lstStyle/>
          <a:p>
            <a:pPr fontAlgn="auto">
              <a:spcBef>
                <a:spcPts val="0"/>
              </a:spcBef>
              <a:spcAft>
                <a:spcPts val="0"/>
              </a:spcAft>
              <a:defRPr/>
            </a:pPr>
            <a:r>
              <a:rPr lang="en-US" sz="3600" b="1" dirty="0">
                <a:solidFill>
                  <a:schemeClr val="tx2">
                    <a:lumMod val="75000"/>
                  </a:schemeClr>
                </a:solidFill>
                <a:latin typeface="Bookman Old Style" pitchFamily="18" charset="0"/>
                <a:cs typeface="Times New Roman" pitchFamily="18" charset="0"/>
              </a:rPr>
              <a:t>Existing System</a:t>
            </a:r>
            <a:endParaRPr lang="en-GB" sz="3600" dirty="0">
              <a:solidFill>
                <a:schemeClr val="tx2">
                  <a:lumMod val="75000"/>
                </a:schemeClr>
              </a:solidFill>
              <a:latin typeface="Bookman Old Style" pitchFamily="18" charset="0"/>
              <a:cs typeface="Times New Roman" pitchFamily="18" charset="0"/>
            </a:endParaRPr>
          </a:p>
        </p:txBody>
      </p:sp>
      <p:sp>
        <p:nvSpPr>
          <p:cNvPr id="4104" name="TextBox 4"/>
          <p:cNvSpPr txBox="1">
            <a:spLocks noChangeArrowheads="1"/>
          </p:cNvSpPr>
          <p:nvPr/>
        </p:nvSpPr>
        <p:spPr bwMode="auto">
          <a:xfrm>
            <a:off x="295406" y="2307372"/>
            <a:ext cx="8382000" cy="3785652"/>
          </a:xfrm>
          <a:prstGeom prst="rect">
            <a:avLst/>
          </a:prstGeom>
          <a:noFill/>
          <a:ln w="9525">
            <a:noFill/>
            <a:miter lim="800000"/>
            <a:headEnd/>
            <a:tailEnd/>
          </a:ln>
        </p:spPr>
        <p:txBody>
          <a:bodyPr wrap="square">
            <a:spAutoFit/>
          </a:bodyPr>
          <a:lstStyle/>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p:txBody>
      </p:sp>
      <p:sp>
        <p:nvSpPr>
          <p:cNvPr id="3" name="Content Placeholder 2"/>
          <p:cNvSpPr>
            <a:spLocks noGrp="1"/>
          </p:cNvSpPr>
          <p:nvPr>
            <p:ph idx="1"/>
          </p:nvPr>
        </p:nvSpPr>
        <p:spPr>
          <a:xfrm>
            <a:off x="381000" y="2062103"/>
            <a:ext cx="8437634" cy="4414897"/>
          </a:xfrm>
        </p:spPr>
        <p:txBody>
          <a:bodyPr/>
          <a:lstStyle/>
          <a:p>
            <a:r>
              <a:rPr lang="en-US" sz="2000" dirty="0">
                <a:latin typeface="Bookman Old Style" panose="02050604050505020204" pitchFamily="18" charset="0"/>
              </a:rPr>
              <a:t>The manual method includes checking fruits and food items by human force </a:t>
            </a:r>
            <a:r>
              <a:rPr lang="en-US" sz="2000" dirty="0" err="1">
                <a:latin typeface="Bookman Old Style" panose="02050604050505020204" pitchFamily="18" charset="0"/>
              </a:rPr>
              <a:t>i</a:t>
            </a:r>
            <a:r>
              <a:rPr lang="en-US" sz="2000" dirty="0">
                <a:latin typeface="Bookman Old Style" panose="02050604050505020204" pitchFamily="18" charset="0"/>
              </a:rPr>
              <a:t>-e by color checking and by smelling but food checking are expensive, time consuming, and less efficient due to human errors and environmental effects. </a:t>
            </a:r>
          </a:p>
          <a:p>
            <a:r>
              <a:rPr lang="en-US" sz="2000" dirty="0">
                <a:latin typeface="Bookman Old Style" panose="02050604050505020204" pitchFamily="18" charset="0"/>
              </a:rPr>
              <a:t>A device called </a:t>
            </a:r>
            <a:r>
              <a:rPr lang="en-US" sz="2000" b="1" dirty="0">
                <a:latin typeface="Bookman Old Style" panose="02050604050505020204" pitchFamily="18" charset="0"/>
              </a:rPr>
              <a:t>Food Sniffer</a:t>
            </a:r>
            <a:r>
              <a:rPr lang="en-US" sz="2000" dirty="0">
                <a:latin typeface="Bookman Old Style" panose="02050604050505020204" pitchFamily="18" charset="0"/>
              </a:rPr>
              <a:t> is developed to check the freshness and quality of meat items like Beef, Chicken, and Fish. This device is only for meat items there is no development done for diary and fruits items.</a:t>
            </a:r>
          </a:p>
          <a:p>
            <a:r>
              <a:rPr lang="en-US" sz="2000" dirty="0">
                <a:latin typeface="Bookman Old Style" panose="02050604050505020204" pitchFamily="18" charset="0"/>
              </a:rPr>
              <a:t>Using </a:t>
            </a:r>
            <a:r>
              <a:rPr lang="en-US" sz="2000" b="1" dirty="0">
                <a:latin typeface="Bookman Old Style" panose="02050604050505020204" pitchFamily="18" charset="0"/>
              </a:rPr>
              <a:t>Gas sensors</a:t>
            </a:r>
            <a:r>
              <a:rPr lang="en-US" sz="2000" dirty="0">
                <a:latin typeface="Bookman Old Style" panose="02050604050505020204" pitchFamily="18" charset="0"/>
              </a:rPr>
              <a:t> that can detect spoilage of food by detecting ammonia and hydrogen sulp1hide. On spoilage of the food the light indicator changes to indicate that food is spoiled.</a:t>
            </a:r>
          </a:p>
        </p:txBody>
      </p:sp>
      <p:sp>
        <p:nvSpPr>
          <p:cNvPr id="13" name="Rectangle 12"/>
          <p:cNvSpPr/>
          <p:nvPr/>
        </p:nvSpPr>
        <p:spPr>
          <a:xfrm>
            <a:off x="4795838" y="-14785"/>
            <a:ext cx="4343400" cy="2010771"/>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b="1" dirty="0" smtClean="0">
                <a:solidFill>
                  <a:schemeClr val="tx1">
                    <a:lumMod val="95000"/>
                    <a:lumOff val="5000"/>
                  </a:schemeClr>
                </a:solidFill>
                <a:latin typeface="Bookman Old Style" pitchFamily="18" charset="0"/>
              </a:rPr>
              <a:t>Existing</a:t>
            </a:r>
            <a:r>
              <a:rPr lang="en-US" sz="1400" dirty="0" smtClean="0">
                <a:solidFill>
                  <a:schemeClr val="tx1">
                    <a:lumMod val="95000"/>
                    <a:lumOff val="5000"/>
                  </a:schemeClr>
                </a:solidFill>
                <a:latin typeface="Bookman Old Style" pitchFamily="18" charset="0"/>
              </a:rPr>
              <a:t> </a:t>
            </a:r>
            <a:r>
              <a:rPr lang="en-US" sz="1400" b="1" dirty="0" smtClean="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Proposed</a:t>
            </a:r>
            <a:r>
              <a:rPr lang="en-US" sz="1400" b="1" dirty="0" smtClean="0">
                <a:solidFill>
                  <a:schemeClr val="tx1">
                    <a:lumMod val="95000"/>
                    <a:lumOff val="5000"/>
                  </a:schemeClr>
                </a:solidFill>
                <a:latin typeface="Bookman Old Style" pitchFamily="18" charset="0"/>
              </a:rPr>
              <a:t> </a:t>
            </a:r>
            <a:r>
              <a:rPr lang="en-US" sz="1400" dirty="0" smtClean="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Software/Hardware Requirements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Architecture Model</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UML  Diagrams/ER Diagrams/Flow Charts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References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4800600" y="951"/>
            <a:ext cx="4343400" cy="1980467"/>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US" dirty="0">
              <a:solidFill>
                <a:schemeClr val="bg1">
                  <a:lumMod val="50000"/>
                </a:schemeClr>
              </a:solidFill>
              <a:latin typeface="Bookman Old Style" pitchFamily="18" charset="0"/>
              <a:cs typeface="Times New Roman" pitchFamily="18" charset="0"/>
            </a:endParaRPr>
          </a:p>
        </p:txBody>
      </p:sp>
      <p:sp>
        <p:nvSpPr>
          <p:cNvPr id="10" name="Rectangle 9"/>
          <p:cNvSpPr/>
          <p:nvPr/>
        </p:nvSpPr>
        <p:spPr>
          <a:xfrm>
            <a:off x="0" y="0"/>
            <a:ext cx="4795838" cy="1981418"/>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Bookman Old Style" pitchFamily="18" charset="0"/>
            </a:endParaRPr>
          </a:p>
        </p:txBody>
      </p:sp>
      <p:sp>
        <p:nvSpPr>
          <p:cNvPr id="8" name="TextBox 7"/>
          <p:cNvSpPr txBox="1"/>
          <p:nvPr/>
        </p:nvSpPr>
        <p:spPr>
          <a:xfrm>
            <a:off x="0" y="1364440"/>
            <a:ext cx="4795838" cy="646331"/>
          </a:xfrm>
          <a:prstGeom prst="rect">
            <a:avLst/>
          </a:prstGeom>
          <a:noFill/>
        </p:spPr>
        <p:txBody>
          <a:bodyPr>
            <a:spAutoFit/>
          </a:bodyPr>
          <a:lstStyle/>
          <a:p>
            <a:pPr fontAlgn="auto">
              <a:spcBef>
                <a:spcPts val="0"/>
              </a:spcBef>
              <a:spcAft>
                <a:spcPts val="0"/>
              </a:spcAft>
              <a:defRPr/>
            </a:pPr>
            <a:r>
              <a:rPr lang="en-GB" sz="3600" b="1" dirty="0">
                <a:solidFill>
                  <a:schemeClr val="tx2">
                    <a:lumMod val="75000"/>
                  </a:schemeClr>
                </a:solidFill>
                <a:latin typeface="Bookman Old Style" pitchFamily="18" charset="0"/>
                <a:cs typeface="Times New Roman" pitchFamily="18" charset="0"/>
              </a:rPr>
              <a:t>Proposed System</a:t>
            </a:r>
          </a:p>
        </p:txBody>
      </p:sp>
      <p:sp>
        <p:nvSpPr>
          <p:cNvPr id="4104" name="TextBox 4"/>
          <p:cNvSpPr txBox="1">
            <a:spLocks noChangeArrowheads="1"/>
          </p:cNvSpPr>
          <p:nvPr/>
        </p:nvSpPr>
        <p:spPr bwMode="auto">
          <a:xfrm>
            <a:off x="295406" y="2307372"/>
            <a:ext cx="8382000" cy="3785652"/>
          </a:xfrm>
          <a:prstGeom prst="rect">
            <a:avLst/>
          </a:prstGeom>
          <a:noFill/>
          <a:ln w="9525">
            <a:noFill/>
            <a:miter lim="800000"/>
            <a:headEnd/>
            <a:tailEnd/>
          </a:ln>
        </p:spPr>
        <p:txBody>
          <a:bodyPr wrap="square">
            <a:spAutoFit/>
          </a:bodyPr>
          <a:lstStyle/>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p:txBody>
      </p:sp>
      <p:sp>
        <p:nvSpPr>
          <p:cNvPr id="3" name="Content Placeholder 2"/>
          <p:cNvSpPr>
            <a:spLocks noGrp="1"/>
          </p:cNvSpPr>
          <p:nvPr>
            <p:ph idx="1"/>
          </p:nvPr>
        </p:nvSpPr>
        <p:spPr>
          <a:xfrm>
            <a:off x="0" y="2093550"/>
            <a:ext cx="8437634" cy="4495582"/>
          </a:xfrm>
        </p:spPr>
        <p:txBody>
          <a:bodyPr/>
          <a:lstStyle/>
          <a:p>
            <a:r>
              <a:rPr lang="en-US" sz="2000" dirty="0">
                <a:latin typeface="Bookman Old Style" panose="02050604050505020204" pitchFamily="18" charset="0"/>
              </a:rPr>
              <a:t>The objectives of this device is to make an electronic device integrated with biosensors that can detect food spoilage. The use sensors that can measure different parameters of food like pH, moisture, and ethanol </a:t>
            </a:r>
            <a:r>
              <a:rPr lang="en-US" sz="2000" dirty="0" err="1">
                <a:latin typeface="Bookman Old Style" panose="02050604050505020204" pitchFamily="18" charset="0"/>
              </a:rPr>
              <a:t>level.The</a:t>
            </a:r>
            <a:r>
              <a:rPr lang="en-US" sz="2000" dirty="0">
                <a:latin typeface="Bookman Old Style" panose="02050604050505020204" pitchFamily="18" charset="0"/>
              </a:rPr>
              <a:t> block diagram below shows the model of device. The device consists of a microcontroller </a:t>
            </a:r>
            <a:r>
              <a:rPr lang="en-US" sz="2000" b="1" dirty="0">
                <a:latin typeface="Bookman Old Style" panose="02050604050505020204" pitchFamily="18" charset="0"/>
              </a:rPr>
              <a:t>Arduino Uno</a:t>
            </a:r>
            <a:r>
              <a:rPr lang="en-US" sz="2000" dirty="0">
                <a:latin typeface="Bookman Old Style" panose="02050604050505020204" pitchFamily="18" charset="0"/>
              </a:rPr>
              <a:t>, Bluetooth module, electrical and bio sensor like </a:t>
            </a:r>
            <a:r>
              <a:rPr lang="en-US" sz="2000" b="1" dirty="0">
                <a:latin typeface="Bookman Old Style" panose="02050604050505020204" pitchFamily="18" charset="0"/>
              </a:rPr>
              <a:t>pH sensor, moisture sensor, and gas sensor</a:t>
            </a:r>
            <a:r>
              <a:rPr lang="en-US" sz="2000" dirty="0">
                <a:latin typeface="Bookman Old Style" panose="02050604050505020204" pitchFamily="18" charset="0"/>
              </a:rPr>
              <a:t>. The food to be checked is attached to the corresponding sensor and the user can input from Android mobile application, the selection of food item from application gives command to Arduino Uno with communicating through Bluetooth module. The microcontroller take readings from the sensor and decide result with a predefined algorithm. The result is in the form of “Good to use” and “Not good to use” depending upon the food freshness level. The output is shown on a LCD. </a:t>
            </a:r>
          </a:p>
          <a:p>
            <a:endParaRPr lang="en-US" sz="2000" dirty="0">
              <a:latin typeface="Bookman Old Style" panose="02050604050505020204" pitchFamily="18" charset="0"/>
            </a:endParaRPr>
          </a:p>
        </p:txBody>
      </p:sp>
      <p:sp>
        <p:nvSpPr>
          <p:cNvPr id="13" name="Rectangle 12"/>
          <p:cNvSpPr/>
          <p:nvPr/>
        </p:nvSpPr>
        <p:spPr>
          <a:xfrm>
            <a:off x="4800600" y="5862"/>
            <a:ext cx="4343400" cy="1919785"/>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400" dirty="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dirty="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dirty="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400" b="1" dirty="0">
                <a:solidFill>
                  <a:schemeClr val="tx1">
                    <a:lumMod val="95000"/>
                    <a:lumOff val="5000"/>
                  </a:schemeClr>
                </a:solidFill>
                <a:latin typeface="Bookman Old Style" pitchFamily="18" charset="0"/>
              </a:rPr>
              <a:t>Proposed System</a:t>
            </a:r>
          </a:p>
          <a:p>
            <a:pPr fontAlgn="auto">
              <a:spcBef>
                <a:spcPts val="0"/>
              </a:spcBef>
              <a:spcAft>
                <a:spcPts val="0"/>
              </a:spcAft>
              <a:defRPr/>
            </a:pPr>
            <a:r>
              <a:rPr lang="en-US" sz="1400" dirty="0">
                <a:solidFill>
                  <a:schemeClr val="tx1">
                    <a:lumMod val="95000"/>
                    <a:lumOff val="5000"/>
                  </a:schemeClr>
                </a:solidFill>
                <a:latin typeface="Bookman Old Style" pitchFamily="18" charset="0"/>
              </a:rPr>
              <a:t>Software/Hardware </a:t>
            </a:r>
            <a:r>
              <a:rPr lang="en-US" sz="1400" dirty="0" smtClean="0">
                <a:solidFill>
                  <a:schemeClr val="tx1">
                    <a:lumMod val="95000"/>
                    <a:lumOff val="5000"/>
                  </a:schemeClr>
                </a:solidFill>
                <a:latin typeface="Bookman Old Style" pitchFamily="18" charset="0"/>
              </a:rPr>
              <a:t>Requirements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Architecture Model</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UML  Diagrams/ER Diagrams/Flow Charts</a:t>
            </a:r>
            <a:endParaRPr lang="en-US" sz="1400" dirty="0">
              <a:solidFill>
                <a:schemeClr val="tx1">
                  <a:lumMod val="95000"/>
                  <a:lumOff val="5000"/>
                </a:schemeClr>
              </a:solidFill>
              <a:latin typeface="Bookman Old Style" pitchFamily="18" charset="0"/>
            </a:endParaRPr>
          </a:p>
          <a:p>
            <a:pPr fontAlgn="auto">
              <a:spcBef>
                <a:spcPts val="0"/>
              </a:spcBef>
              <a:spcAft>
                <a:spcPts val="0"/>
              </a:spcAft>
              <a:defRPr/>
            </a:pPr>
            <a:r>
              <a:rPr lang="en-US" sz="1400" dirty="0">
                <a:solidFill>
                  <a:schemeClr val="tx1">
                    <a:lumMod val="95000"/>
                    <a:lumOff val="5000"/>
                  </a:schemeClr>
                </a:solidFill>
                <a:latin typeface="Bookman Old Style" pitchFamily="18" charset="0"/>
              </a:rPr>
              <a:t>References</a:t>
            </a:r>
          </a:p>
        </p:txBody>
      </p:sp>
    </p:spTree>
    <p:extLst>
      <p:ext uri="{BB962C8B-B14F-4D97-AF65-F5344CB8AC3E}">
        <p14:creationId xmlns="" xmlns:p14="http://schemas.microsoft.com/office/powerpoint/2010/main" val="3262568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8E83C7-9D81-4D75-86CA-BB35B210FCA7}"/>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 xmlns:a16="http://schemas.microsoft.com/office/drawing/2014/main" id="{38B72FAE-8458-4475-B5F1-4B69FFA068C5}"/>
              </a:ext>
            </a:extLst>
          </p:cNvPr>
          <p:cNvPicPr>
            <a:picLocks noGrp="1" noChangeAspect="1"/>
          </p:cNvPicPr>
          <p:nvPr>
            <p:ph idx="1"/>
          </p:nvPr>
        </p:nvPicPr>
        <p:blipFill>
          <a:blip r:embed="rId2"/>
          <a:stretch>
            <a:fillRect/>
          </a:stretch>
        </p:blipFill>
        <p:spPr>
          <a:xfrm>
            <a:off x="0" y="-56271"/>
            <a:ext cx="4822354" cy="2005758"/>
          </a:xfrm>
          <a:prstGeom prst="rect">
            <a:avLst/>
          </a:prstGeom>
        </p:spPr>
      </p:pic>
      <p:sp>
        <p:nvSpPr>
          <p:cNvPr id="5" name="Rectangle 4">
            <a:extLst>
              <a:ext uri="{FF2B5EF4-FFF2-40B4-BE49-F238E27FC236}">
                <a16:creationId xmlns="" xmlns:a16="http://schemas.microsoft.com/office/drawing/2014/main" id="{4013DDAB-4D9E-4F3D-A48B-5502BB4B8AE1}"/>
              </a:ext>
            </a:extLst>
          </p:cNvPr>
          <p:cNvSpPr/>
          <p:nvPr/>
        </p:nvSpPr>
        <p:spPr>
          <a:xfrm>
            <a:off x="4800600" y="5862"/>
            <a:ext cx="4343400" cy="1977683"/>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400" b="1" dirty="0" smtClean="0">
                <a:solidFill>
                  <a:schemeClr val="tx1">
                    <a:lumMod val="95000"/>
                    <a:lumOff val="5000"/>
                  </a:schemeClr>
                </a:solidFill>
                <a:latin typeface="Bookman Old Style" pitchFamily="18" charset="0"/>
              </a:rPr>
              <a:t>Proposed System</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Software/Hardware Requirements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Architecture Model</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UML  Diagrams/ER Diagrams/Flow Charts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References</a:t>
            </a:r>
          </a:p>
        </p:txBody>
      </p:sp>
      <p:sp>
        <p:nvSpPr>
          <p:cNvPr id="6" name="TextBox 5">
            <a:extLst>
              <a:ext uri="{FF2B5EF4-FFF2-40B4-BE49-F238E27FC236}">
                <a16:creationId xmlns="" xmlns:a16="http://schemas.microsoft.com/office/drawing/2014/main" id="{DCB454CC-7965-4E61-A9B0-0112F64DBE6F}"/>
              </a:ext>
            </a:extLst>
          </p:cNvPr>
          <p:cNvSpPr txBox="1"/>
          <p:nvPr/>
        </p:nvSpPr>
        <p:spPr>
          <a:xfrm>
            <a:off x="457200" y="2314454"/>
            <a:ext cx="7958795" cy="2862322"/>
          </a:xfrm>
          <a:prstGeom prst="rect">
            <a:avLst/>
          </a:prstGeom>
          <a:noFill/>
        </p:spPr>
        <p:txBody>
          <a:bodyPr wrap="square" rtlCol="0">
            <a:spAutoFit/>
          </a:bodyPr>
          <a:lstStyle/>
          <a:p>
            <a:r>
              <a:rPr lang="en-US" b="1" dirty="0">
                <a:latin typeface="Bookman Old Style" panose="02050604050505020204" pitchFamily="18" charset="0"/>
              </a:rPr>
              <a:t>FOR EXAMPLE :</a:t>
            </a:r>
          </a:p>
          <a:p>
            <a:endParaRPr lang="en-US" b="1" dirty="0">
              <a:latin typeface="Bookman Old Style" panose="02050604050505020204" pitchFamily="18" charset="0"/>
            </a:endParaRPr>
          </a:p>
          <a:p>
            <a:pPr marL="342900" indent="-342900">
              <a:buFont typeface="Arial" panose="020B0604020202020204" pitchFamily="34" charset="0"/>
              <a:buChar char="•"/>
            </a:pPr>
            <a:r>
              <a:rPr lang="en-US" dirty="0">
                <a:latin typeface="Bookman Old Style" panose="02050604050505020204" pitchFamily="18" charset="0"/>
              </a:rPr>
              <a:t>Depending on the specific variety, the </a:t>
            </a:r>
            <a:r>
              <a:rPr lang="en-US" b="1" dirty="0">
                <a:latin typeface="Bookman Old Style" panose="02050604050505020204" pitchFamily="18" charset="0"/>
              </a:rPr>
              <a:t>pH of apples</a:t>
            </a:r>
            <a:r>
              <a:rPr lang="en-US" dirty="0">
                <a:latin typeface="Bookman Old Style" panose="02050604050505020204" pitchFamily="18" charset="0"/>
              </a:rPr>
              <a:t> may be between 3.2 and 4.0. </a:t>
            </a:r>
            <a:r>
              <a:rPr lang="en-US" b="1" dirty="0">
                <a:latin typeface="Bookman Old Style" panose="02050604050505020204" pitchFamily="18" charset="0"/>
              </a:rPr>
              <a:t>Apples</a:t>
            </a:r>
            <a:r>
              <a:rPr lang="en-US" dirty="0">
                <a:latin typeface="Bookman Old Style" panose="02050604050505020204" pitchFamily="18" charset="0"/>
              </a:rPr>
              <a:t> do contain </a:t>
            </a:r>
            <a:r>
              <a:rPr lang="en-US" b="1" dirty="0">
                <a:latin typeface="Bookman Old Style" panose="02050604050505020204" pitchFamily="18" charset="0"/>
              </a:rPr>
              <a:t>acid</a:t>
            </a:r>
            <a:r>
              <a:rPr lang="en-US" dirty="0">
                <a:latin typeface="Bookman Old Style" panose="02050604050505020204" pitchFamily="18" charset="0"/>
              </a:rPr>
              <a:t> -- which </a:t>
            </a:r>
            <a:r>
              <a:rPr lang="en-US" b="1" dirty="0">
                <a:latin typeface="Bookman Old Style" panose="02050604050505020204" pitchFamily="18" charset="0"/>
              </a:rPr>
              <a:t>is</a:t>
            </a:r>
            <a:r>
              <a:rPr lang="en-US" dirty="0">
                <a:latin typeface="Bookman Old Style" panose="02050604050505020204" pitchFamily="18" charset="0"/>
              </a:rPr>
              <a:t> reflected by this low </a:t>
            </a:r>
            <a:r>
              <a:rPr lang="en-US" b="1" dirty="0">
                <a:latin typeface="Bookman Old Style" panose="02050604050505020204" pitchFamily="18" charset="0"/>
              </a:rPr>
              <a:t>pH </a:t>
            </a:r>
            <a:r>
              <a:rPr lang="en-US" dirty="0">
                <a:latin typeface="Bookman Old Style" panose="02050604050505020204" pitchFamily="18" charset="0"/>
              </a:rPr>
              <a:t>.</a:t>
            </a:r>
          </a:p>
          <a:p>
            <a:pPr marL="342900" indent="-342900">
              <a:buFont typeface="Arial" panose="020B0604020202020204" pitchFamily="34" charset="0"/>
              <a:buChar char="•"/>
            </a:pPr>
            <a:r>
              <a:rPr lang="en-US" dirty="0">
                <a:latin typeface="Bookman Old Style" panose="02050604050505020204" pitchFamily="18" charset="0"/>
              </a:rPr>
              <a:t>Therefore, the apple is fresh when the pH value is in between 3.2 and 4.0. If the pH value is either higher- than 4.0 or less than  3.2 then it is not fresh.</a:t>
            </a:r>
          </a:p>
          <a:p>
            <a:pPr marL="342900" indent="-342900">
              <a:buFont typeface="Arial" panose="020B0604020202020204" pitchFamily="34" charset="0"/>
              <a:buChar char="•"/>
            </a:pPr>
            <a:endParaRPr lang="en-US" dirty="0">
              <a:latin typeface="Bookman Old Style" panose="02050604050505020204" pitchFamily="18" charset="0"/>
            </a:endParaRPr>
          </a:p>
          <a:p>
            <a:pPr marL="342900" indent="-342900">
              <a:buFont typeface="Arial" panose="020B0604020202020204" pitchFamily="34" charset="0"/>
              <a:buChar char="•"/>
            </a:pPr>
            <a:endParaRPr lang="en-IN" dirty="0">
              <a:latin typeface="Bookman Old Style" panose="02050604050505020204" pitchFamily="18" charset="0"/>
            </a:endParaRPr>
          </a:p>
        </p:txBody>
      </p:sp>
      <p:sp>
        <p:nvSpPr>
          <p:cNvPr id="7" name="TextBox 6">
            <a:extLst>
              <a:ext uri="{FF2B5EF4-FFF2-40B4-BE49-F238E27FC236}">
                <a16:creationId xmlns="" xmlns:a16="http://schemas.microsoft.com/office/drawing/2014/main" id="{82F60308-9D66-44C1-B17E-1980F7897AC6}"/>
              </a:ext>
            </a:extLst>
          </p:cNvPr>
          <p:cNvSpPr txBox="1"/>
          <p:nvPr/>
        </p:nvSpPr>
        <p:spPr>
          <a:xfrm>
            <a:off x="250354" y="1100427"/>
            <a:ext cx="4343400" cy="1200329"/>
          </a:xfrm>
          <a:prstGeom prst="rect">
            <a:avLst/>
          </a:prstGeom>
          <a:noFill/>
        </p:spPr>
        <p:txBody>
          <a:bodyPr wrap="square" rtlCol="0">
            <a:spAutoFit/>
          </a:bodyPr>
          <a:lstStyle/>
          <a:p>
            <a:r>
              <a:rPr lang="en-GB" sz="3600" b="1" dirty="0">
                <a:solidFill>
                  <a:schemeClr val="tx2">
                    <a:lumMod val="75000"/>
                  </a:schemeClr>
                </a:solidFill>
                <a:latin typeface="Bookman Old Style" pitchFamily="18" charset="0"/>
                <a:cs typeface="Times New Roman" pitchFamily="18" charset="0"/>
              </a:rPr>
              <a:t>Proposed System</a:t>
            </a:r>
          </a:p>
          <a:p>
            <a:endParaRPr lang="en-IN" sz="3600" dirty="0"/>
          </a:p>
        </p:txBody>
      </p:sp>
      <p:pic>
        <p:nvPicPr>
          <p:cNvPr id="9" name="Picture 8">
            <a:extLst>
              <a:ext uri="{FF2B5EF4-FFF2-40B4-BE49-F238E27FC236}">
                <a16:creationId xmlns="" xmlns:a16="http://schemas.microsoft.com/office/drawing/2014/main" id="{B4A350DD-663D-46B3-B9C8-0A9D1F590070}"/>
              </a:ext>
            </a:extLst>
          </p:cNvPr>
          <p:cNvPicPr>
            <a:picLocks noChangeAspect="1"/>
          </p:cNvPicPr>
          <p:nvPr/>
        </p:nvPicPr>
        <p:blipFill>
          <a:blip r:embed="rId3"/>
          <a:stretch>
            <a:fillRect/>
          </a:stretch>
        </p:blipFill>
        <p:spPr>
          <a:xfrm>
            <a:off x="1143000" y="4648200"/>
            <a:ext cx="6934199" cy="2057399"/>
          </a:xfrm>
          <a:prstGeom prst="rect">
            <a:avLst/>
          </a:prstGeom>
        </p:spPr>
      </p:pic>
    </p:spTree>
    <p:extLst>
      <p:ext uri="{BB962C8B-B14F-4D97-AF65-F5344CB8AC3E}">
        <p14:creationId xmlns="" xmlns:p14="http://schemas.microsoft.com/office/powerpoint/2010/main" val="1287265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4800600" y="951"/>
            <a:ext cx="4343400" cy="1980467"/>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US" dirty="0">
              <a:solidFill>
                <a:schemeClr val="bg1">
                  <a:lumMod val="50000"/>
                </a:schemeClr>
              </a:solidFill>
              <a:latin typeface="Bookman Old Style" pitchFamily="18" charset="0"/>
              <a:cs typeface="Times New Roman" pitchFamily="18" charset="0"/>
            </a:endParaRPr>
          </a:p>
        </p:txBody>
      </p:sp>
      <p:sp>
        <p:nvSpPr>
          <p:cNvPr id="10" name="Rectangle 9"/>
          <p:cNvSpPr/>
          <p:nvPr/>
        </p:nvSpPr>
        <p:spPr>
          <a:xfrm>
            <a:off x="0" y="0"/>
            <a:ext cx="4795838" cy="1981418"/>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Bookman Old Style" pitchFamily="18" charset="0"/>
            </a:endParaRPr>
          </a:p>
        </p:txBody>
      </p:sp>
      <p:sp>
        <p:nvSpPr>
          <p:cNvPr id="8" name="TextBox 7"/>
          <p:cNvSpPr txBox="1"/>
          <p:nvPr/>
        </p:nvSpPr>
        <p:spPr>
          <a:xfrm>
            <a:off x="0" y="990600"/>
            <a:ext cx="4795838" cy="954107"/>
          </a:xfrm>
          <a:prstGeom prst="rect">
            <a:avLst/>
          </a:prstGeom>
          <a:noFill/>
        </p:spPr>
        <p:txBody>
          <a:bodyPr>
            <a:spAutoFit/>
          </a:bodyPr>
          <a:lstStyle/>
          <a:p>
            <a:pPr fontAlgn="auto">
              <a:spcBef>
                <a:spcPts val="0"/>
              </a:spcBef>
              <a:spcAft>
                <a:spcPts val="0"/>
              </a:spcAft>
              <a:defRPr/>
            </a:pPr>
            <a:r>
              <a:rPr lang="en-GB" sz="2800" b="1" dirty="0">
                <a:solidFill>
                  <a:schemeClr val="tx2">
                    <a:lumMod val="75000"/>
                  </a:schemeClr>
                </a:solidFill>
                <a:latin typeface="Bookman Old Style" pitchFamily="18" charset="0"/>
                <a:cs typeface="Times New Roman" pitchFamily="18" charset="0"/>
              </a:rPr>
              <a:t>Software/Hardware Requirements</a:t>
            </a:r>
          </a:p>
        </p:txBody>
      </p:sp>
      <p:sp>
        <p:nvSpPr>
          <p:cNvPr id="4103" name="TextBox 2"/>
          <p:cNvSpPr txBox="1">
            <a:spLocks noChangeArrowheads="1"/>
          </p:cNvSpPr>
          <p:nvPr/>
        </p:nvSpPr>
        <p:spPr bwMode="auto">
          <a:xfrm>
            <a:off x="14288" y="6553200"/>
            <a:ext cx="716863" cy="338554"/>
          </a:xfrm>
          <a:prstGeom prst="rect">
            <a:avLst/>
          </a:prstGeom>
          <a:noFill/>
          <a:ln w="9525">
            <a:noFill/>
            <a:miter lim="800000"/>
            <a:headEnd/>
            <a:tailEnd/>
          </a:ln>
        </p:spPr>
        <p:txBody>
          <a:bodyPr wrap="none">
            <a:spAutoFit/>
          </a:bodyPr>
          <a:lstStyle/>
          <a:p>
            <a:r>
              <a:rPr lang="en-US" sz="1600" b="1">
                <a:solidFill>
                  <a:schemeClr val="bg1"/>
                </a:solidFill>
                <a:latin typeface="Bookman Old Style" pitchFamily="18" charset="0"/>
                <a:cs typeface="Times New Roman" pitchFamily="18" charset="0"/>
              </a:rPr>
              <a:t>2/10</a:t>
            </a:r>
          </a:p>
        </p:txBody>
      </p:sp>
      <p:sp>
        <p:nvSpPr>
          <p:cNvPr id="4104" name="TextBox 4"/>
          <p:cNvSpPr txBox="1">
            <a:spLocks noChangeArrowheads="1"/>
          </p:cNvSpPr>
          <p:nvPr/>
        </p:nvSpPr>
        <p:spPr bwMode="auto">
          <a:xfrm>
            <a:off x="295406" y="2307372"/>
            <a:ext cx="5495794" cy="3785652"/>
          </a:xfrm>
          <a:prstGeom prst="rect">
            <a:avLst/>
          </a:prstGeom>
          <a:noFill/>
          <a:ln w="9525">
            <a:noFill/>
            <a:miter lim="800000"/>
            <a:headEnd/>
            <a:tailEnd/>
          </a:ln>
        </p:spPr>
        <p:txBody>
          <a:bodyPr wrap="square">
            <a:spAutoFit/>
          </a:bodyPr>
          <a:lstStyle/>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p:txBody>
      </p:sp>
      <p:sp>
        <p:nvSpPr>
          <p:cNvPr id="3" name="Content Placeholder 2"/>
          <p:cNvSpPr>
            <a:spLocks noGrp="1"/>
          </p:cNvSpPr>
          <p:nvPr>
            <p:ph idx="1"/>
          </p:nvPr>
        </p:nvSpPr>
        <p:spPr>
          <a:xfrm>
            <a:off x="381000" y="2062103"/>
            <a:ext cx="5715000" cy="2890897"/>
          </a:xfrm>
        </p:spPr>
        <p:txBody>
          <a:bodyPr/>
          <a:lstStyle/>
          <a:p>
            <a:pPr algn="just">
              <a:spcBef>
                <a:spcPts val="0"/>
              </a:spcBef>
              <a:buNone/>
            </a:pPr>
            <a:r>
              <a:rPr lang="en-US" sz="2800" dirty="0">
                <a:latin typeface="Bookman Old Style" pitchFamily="18" charset="0"/>
                <a:cs typeface="Times New Roman" pitchFamily="18" charset="0"/>
              </a:rPr>
              <a:t>	</a:t>
            </a:r>
            <a:r>
              <a:rPr lang="en-US" sz="2400" b="1" dirty="0">
                <a:latin typeface="Bookman Old Style" pitchFamily="18" charset="0"/>
                <a:cs typeface="Times New Roman" pitchFamily="18" charset="0"/>
              </a:rPr>
              <a:t>SOFTWARE REQUIREMENTS :</a:t>
            </a:r>
          </a:p>
          <a:p>
            <a:pPr lvl="2" algn="just">
              <a:spcBef>
                <a:spcPts val="0"/>
              </a:spcBef>
            </a:pPr>
            <a:r>
              <a:rPr lang="en-US" sz="2000" dirty="0" err="1">
                <a:latin typeface="Bookman Old Style" pitchFamily="18" charset="0"/>
                <a:cs typeface="Times New Roman" pitchFamily="18" charset="0"/>
              </a:rPr>
              <a:t>Rasberry</a:t>
            </a:r>
            <a:r>
              <a:rPr lang="en-US" sz="2000" dirty="0">
                <a:latin typeface="Bookman Old Style" pitchFamily="18" charset="0"/>
                <a:cs typeface="Times New Roman" pitchFamily="18" charset="0"/>
              </a:rPr>
              <a:t> pi</a:t>
            </a:r>
          </a:p>
          <a:p>
            <a:pPr lvl="2" algn="just">
              <a:spcBef>
                <a:spcPts val="0"/>
              </a:spcBef>
            </a:pPr>
            <a:r>
              <a:rPr lang="en-US" sz="2000" dirty="0">
                <a:latin typeface="Bookman Old Style" pitchFamily="18" charset="0"/>
                <a:cs typeface="Times New Roman" pitchFamily="18" charset="0"/>
              </a:rPr>
              <a:t>C / C++</a:t>
            </a:r>
          </a:p>
          <a:p>
            <a:pPr lvl="1" algn="just">
              <a:spcBef>
                <a:spcPts val="0"/>
              </a:spcBef>
              <a:buNone/>
            </a:pPr>
            <a:r>
              <a:rPr lang="en-US" sz="2400" b="1" dirty="0">
                <a:latin typeface="Bookman Old Style" pitchFamily="18" charset="0"/>
                <a:cs typeface="Times New Roman" pitchFamily="18" charset="0"/>
              </a:rPr>
              <a:t>HARDWARE REQUIREMENTS :</a:t>
            </a:r>
          </a:p>
          <a:p>
            <a:pPr lvl="2" algn="just">
              <a:spcBef>
                <a:spcPts val="0"/>
              </a:spcBef>
            </a:pPr>
            <a:r>
              <a:rPr lang="en-US" sz="2000" dirty="0">
                <a:latin typeface="Bookman Old Style" pitchFamily="18" charset="0"/>
                <a:cs typeface="Times New Roman" pitchFamily="18" charset="0"/>
              </a:rPr>
              <a:t>pH sensor</a:t>
            </a:r>
          </a:p>
          <a:p>
            <a:pPr lvl="2" algn="just">
              <a:spcBef>
                <a:spcPts val="0"/>
              </a:spcBef>
            </a:pPr>
            <a:r>
              <a:rPr lang="en-US" sz="2000" dirty="0">
                <a:latin typeface="Bookman Old Style" pitchFamily="18" charset="0"/>
                <a:cs typeface="Times New Roman" pitchFamily="18" charset="0"/>
              </a:rPr>
              <a:t>Gas sensor</a:t>
            </a:r>
          </a:p>
          <a:p>
            <a:pPr lvl="2" algn="just">
              <a:spcBef>
                <a:spcPts val="0"/>
              </a:spcBef>
            </a:pPr>
            <a:r>
              <a:rPr lang="en-US" sz="2000" dirty="0" err="1">
                <a:latin typeface="Bookman Old Style" pitchFamily="18" charset="0"/>
                <a:cs typeface="Times New Roman" pitchFamily="18" charset="0"/>
              </a:rPr>
              <a:t>Rasberry</a:t>
            </a:r>
            <a:r>
              <a:rPr lang="en-US" sz="2000" dirty="0">
                <a:latin typeface="Bookman Old Style" pitchFamily="18" charset="0"/>
                <a:cs typeface="Times New Roman" pitchFamily="18" charset="0"/>
              </a:rPr>
              <a:t> pi</a:t>
            </a:r>
          </a:p>
          <a:p>
            <a:pPr lvl="2" algn="just">
              <a:spcBef>
                <a:spcPts val="0"/>
              </a:spcBef>
            </a:pPr>
            <a:endParaRPr lang="en-US" sz="2000" dirty="0">
              <a:latin typeface="Bookman Old Style" pitchFamily="18" charset="0"/>
              <a:cs typeface="Times New Roman" pitchFamily="18" charset="0"/>
            </a:endParaRPr>
          </a:p>
          <a:p>
            <a:pPr>
              <a:buNone/>
            </a:pPr>
            <a:endParaRPr lang="en-US" dirty="0">
              <a:latin typeface="Bookman Old Style" pitchFamily="18" charset="0"/>
            </a:endParaRPr>
          </a:p>
        </p:txBody>
      </p:sp>
      <p:sp>
        <p:nvSpPr>
          <p:cNvPr id="13" name="Rectangle 12"/>
          <p:cNvSpPr/>
          <p:nvPr/>
        </p:nvSpPr>
        <p:spPr>
          <a:xfrm>
            <a:off x="4795838" y="-14785"/>
            <a:ext cx="4343400" cy="2010771"/>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Proposed</a:t>
            </a:r>
            <a:r>
              <a:rPr lang="en-US" sz="1400" b="1" dirty="0" smtClean="0">
                <a:solidFill>
                  <a:schemeClr val="tx1">
                    <a:lumMod val="95000"/>
                    <a:lumOff val="5000"/>
                  </a:schemeClr>
                </a:solidFill>
                <a:latin typeface="Bookman Old Style" pitchFamily="18" charset="0"/>
              </a:rPr>
              <a:t> </a:t>
            </a:r>
            <a:r>
              <a:rPr lang="en-US" sz="1400" dirty="0" smtClean="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b="1" dirty="0" smtClean="0">
                <a:solidFill>
                  <a:schemeClr val="tx1">
                    <a:lumMod val="95000"/>
                    <a:lumOff val="5000"/>
                  </a:schemeClr>
                </a:solidFill>
                <a:latin typeface="Bookman Old Style" pitchFamily="18" charset="0"/>
              </a:rPr>
              <a:t>Software/Hardware Requirements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Architecture Model</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UML  Diagrams/ER Diagrams/Flow Charts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References</a:t>
            </a:r>
          </a:p>
        </p:txBody>
      </p:sp>
      <p:pic>
        <p:nvPicPr>
          <p:cNvPr id="1027" name="Picture 3"/>
          <p:cNvPicPr>
            <a:picLocks noChangeAspect="1" noChangeArrowheads="1"/>
          </p:cNvPicPr>
          <p:nvPr/>
        </p:nvPicPr>
        <p:blipFill>
          <a:blip r:embed="rId2"/>
          <a:srcRect/>
          <a:stretch>
            <a:fillRect/>
          </a:stretch>
        </p:blipFill>
        <p:spPr bwMode="auto">
          <a:xfrm>
            <a:off x="6172200" y="4419600"/>
            <a:ext cx="2790825" cy="1638300"/>
          </a:xfrm>
          <a:prstGeom prst="rect">
            <a:avLst/>
          </a:prstGeom>
          <a:noFill/>
          <a:ln w="9525">
            <a:noFill/>
            <a:miter lim="800000"/>
            <a:headEnd/>
            <a:tailEnd/>
          </a:ln>
          <a:effectLst/>
        </p:spPr>
      </p:pic>
      <p:sp>
        <p:nvSpPr>
          <p:cNvPr id="11" name="Rectangle 10"/>
          <p:cNvSpPr/>
          <p:nvPr/>
        </p:nvSpPr>
        <p:spPr>
          <a:xfrm>
            <a:off x="6553200" y="6096000"/>
            <a:ext cx="2292364" cy="369332"/>
          </a:xfrm>
          <a:prstGeom prst="rect">
            <a:avLst/>
          </a:prstGeom>
          <a:noFill/>
        </p:spPr>
        <p:txBody>
          <a:bodyPr wrap="square" lIns="91440" tIns="45720" rIns="91440" bIns="45720">
            <a:spAutoFit/>
          </a:bodyPr>
          <a:lstStyle/>
          <a:p>
            <a:pPr algn="ctr"/>
            <a:r>
              <a:rPr lang="en-US" b="1" dirty="0">
                <a:ln w="12700">
                  <a:solidFill>
                    <a:schemeClr val="tx2">
                      <a:satMod val="155000"/>
                    </a:schemeClr>
                  </a:solidFill>
                  <a:prstDash val="solid"/>
                </a:ln>
                <a:solidFill>
                  <a:schemeClr val="tx2">
                    <a:lumMod val="75000"/>
                  </a:schemeClr>
                </a:solidFill>
                <a:effectLst>
                  <a:outerShdw blurRad="41275" dist="20320" dir="1800000" algn="tl" rotWithShape="0">
                    <a:srgbClr val="000000">
                      <a:alpha val="40000"/>
                    </a:srgbClr>
                  </a:outerShdw>
                </a:effectLst>
                <a:latin typeface="Franklin Gothic Medium" pitchFamily="34" charset="0"/>
              </a:rPr>
              <a:t>RASBERRY PI</a:t>
            </a:r>
            <a:endParaRPr lang="en-US"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Franklin Gothic Medium" pitchFamily="34" charset="0"/>
            </a:endParaRPr>
          </a:p>
        </p:txBody>
      </p:sp>
      <p:sp>
        <p:nvSpPr>
          <p:cNvPr id="1029" name="AutoShape 5" descr="Image result for pH sensor"/>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1" name="AutoShape 7" descr="Image result for pH sensor"/>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4" name="Picture 13" descr="download.jpg"/>
          <p:cNvPicPr>
            <a:picLocks noChangeAspect="1"/>
          </p:cNvPicPr>
          <p:nvPr/>
        </p:nvPicPr>
        <p:blipFill>
          <a:blip r:embed="rId3"/>
          <a:stretch>
            <a:fillRect/>
          </a:stretch>
        </p:blipFill>
        <p:spPr>
          <a:xfrm>
            <a:off x="3657600" y="4114800"/>
            <a:ext cx="2133600" cy="2133600"/>
          </a:xfrm>
          <a:prstGeom prst="rect">
            <a:avLst/>
          </a:prstGeom>
        </p:spPr>
      </p:pic>
      <p:sp>
        <p:nvSpPr>
          <p:cNvPr id="2" name="TextBox 1"/>
          <p:cNvSpPr txBox="1"/>
          <p:nvPr/>
        </p:nvSpPr>
        <p:spPr>
          <a:xfrm>
            <a:off x="4301257" y="6096000"/>
            <a:ext cx="1545616" cy="400110"/>
          </a:xfrm>
          <a:prstGeom prst="rect">
            <a:avLst/>
          </a:prstGeom>
          <a:noFill/>
        </p:spPr>
        <p:txBody>
          <a:bodyPr wrap="none" rtlCol="0">
            <a:spAutoFit/>
          </a:bodyPr>
          <a:lstStyle/>
          <a:p>
            <a:r>
              <a:rPr lang="en-IN" sz="2000" b="1" dirty="0">
                <a:solidFill>
                  <a:schemeClr val="tx2">
                    <a:lumMod val="75000"/>
                  </a:schemeClr>
                </a:solidFill>
                <a:latin typeface="Bahnschrift" panose="020B0502040204020203" pitchFamily="34" charset="0"/>
              </a:rPr>
              <a:t>PH SENSOR</a:t>
            </a:r>
          </a:p>
        </p:txBody>
      </p:sp>
      <p:pic>
        <p:nvPicPr>
          <p:cNvPr id="4" name="Picture 3">
            <a:extLst>
              <a:ext uri="{FF2B5EF4-FFF2-40B4-BE49-F238E27FC236}">
                <a16:creationId xmlns="" xmlns:a16="http://schemas.microsoft.com/office/drawing/2014/main" id="{EB48A0CF-8ABC-43A6-8343-4F54708C85ED}"/>
              </a:ext>
            </a:extLst>
          </p:cNvPr>
          <p:cNvPicPr>
            <a:picLocks noChangeAspect="1"/>
          </p:cNvPicPr>
          <p:nvPr/>
        </p:nvPicPr>
        <p:blipFill>
          <a:blip r:embed="rId4" cstate="print"/>
          <a:stretch>
            <a:fillRect/>
          </a:stretch>
        </p:blipFill>
        <p:spPr>
          <a:xfrm>
            <a:off x="1552416" y="4664362"/>
            <a:ext cx="1545616" cy="1428662"/>
          </a:xfrm>
          <a:prstGeom prst="rect">
            <a:avLst/>
          </a:prstGeom>
        </p:spPr>
      </p:pic>
      <p:sp>
        <p:nvSpPr>
          <p:cNvPr id="5" name="TextBox 4">
            <a:extLst>
              <a:ext uri="{FF2B5EF4-FFF2-40B4-BE49-F238E27FC236}">
                <a16:creationId xmlns="" xmlns:a16="http://schemas.microsoft.com/office/drawing/2014/main" id="{A7006BEE-C989-416A-82D1-C4E61116313F}"/>
              </a:ext>
            </a:extLst>
          </p:cNvPr>
          <p:cNvSpPr txBox="1"/>
          <p:nvPr/>
        </p:nvSpPr>
        <p:spPr>
          <a:xfrm>
            <a:off x="1830238" y="6096000"/>
            <a:ext cx="1944763" cy="400110"/>
          </a:xfrm>
          <a:prstGeom prst="rect">
            <a:avLst/>
          </a:prstGeom>
          <a:noFill/>
        </p:spPr>
        <p:txBody>
          <a:bodyPr wrap="none" rtlCol="0">
            <a:spAutoFit/>
          </a:bodyPr>
          <a:lstStyle/>
          <a:p>
            <a:r>
              <a:rPr lang="en-IN" sz="2000" b="1" dirty="0">
                <a:solidFill>
                  <a:schemeClr val="accent1">
                    <a:lumMod val="50000"/>
                  </a:schemeClr>
                </a:solidFill>
                <a:latin typeface="Bookman Old Style" panose="02050604050505020204" pitchFamily="18" charset="0"/>
              </a:rPr>
              <a:t>GAS SENSOR</a:t>
            </a:r>
          </a:p>
        </p:txBody>
      </p:sp>
    </p:spTree>
    <p:extLst>
      <p:ext uri="{BB962C8B-B14F-4D97-AF65-F5344CB8AC3E}">
        <p14:creationId xmlns="" xmlns:p14="http://schemas.microsoft.com/office/powerpoint/2010/main" val="1888603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fade">
                                      <p:cBhvr>
                                        <p:cTn id="7" dur="500"/>
                                        <p:tgtEl>
                                          <p:spTgt spid="102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randombar(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randombar(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randombar(horizontal)">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4572000" cy="2057400"/>
          </a:xfrm>
          <a:solidFill>
            <a:srgbClr val="FFC000"/>
          </a:solidFill>
        </p:spPr>
        <p:txBody>
          <a:bodyPr/>
          <a:lstStyle/>
          <a:p>
            <a:pPr algn="l" fontAlgn="auto">
              <a:spcBef>
                <a:spcPts val="0"/>
              </a:spcBef>
              <a:spcAft>
                <a:spcPts val="0"/>
              </a:spcAft>
              <a:defRPr/>
            </a:pPr>
            <a:r>
              <a:rPr lang="en-US" sz="2800" b="1" dirty="0" smtClean="0">
                <a:solidFill>
                  <a:schemeClr val="tx2">
                    <a:lumMod val="60000"/>
                    <a:lumOff val="40000"/>
                  </a:schemeClr>
                </a:solidFill>
                <a:latin typeface="Bookman Old Style" pitchFamily="18" charset="0"/>
              </a:rPr>
              <a:t> </a:t>
            </a:r>
            <a:br>
              <a:rPr lang="en-US" sz="2800" b="1" dirty="0" smtClean="0">
                <a:solidFill>
                  <a:schemeClr val="tx2">
                    <a:lumMod val="60000"/>
                    <a:lumOff val="40000"/>
                  </a:schemeClr>
                </a:solidFill>
                <a:latin typeface="Bookman Old Style" pitchFamily="18" charset="0"/>
              </a:rPr>
            </a:br>
            <a:r>
              <a:rPr lang="en-US" sz="2800" b="1" dirty="0" smtClean="0">
                <a:solidFill>
                  <a:schemeClr val="tx2">
                    <a:lumMod val="60000"/>
                    <a:lumOff val="40000"/>
                  </a:schemeClr>
                </a:solidFill>
                <a:latin typeface="Bookman Old Style" pitchFamily="18" charset="0"/>
              </a:rPr>
              <a:t/>
            </a:r>
            <a:br>
              <a:rPr lang="en-US" sz="2800" b="1" dirty="0" smtClean="0">
                <a:solidFill>
                  <a:schemeClr val="tx2">
                    <a:lumMod val="60000"/>
                    <a:lumOff val="40000"/>
                  </a:schemeClr>
                </a:solidFill>
                <a:latin typeface="Bookman Old Style" pitchFamily="18" charset="0"/>
              </a:rPr>
            </a:br>
            <a:r>
              <a:rPr lang="en-US" sz="2800" b="1" dirty="0" smtClean="0">
                <a:solidFill>
                  <a:schemeClr val="tx2">
                    <a:lumMod val="75000"/>
                  </a:schemeClr>
                </a:solidFill>
                <a:latin typeface="Bookman Old Style" pitchFamily="18" charset="0"/>
              </a:rPr>
              <a:t>Architecture</a:t>
            </a:r>
            <a:r>
              <a:rPr lang="en-US" sz="2800" b="1" dirty="0" smtClean="0">
                <a:solidFill>
                  <a:schemeClr val="tx2">
                    <a:lumMod val="60000"/>
                    <a:lumOff val="40000"/>
                  </a:schemeClr>
                </a:solidFill>
                <a:latin typeface="Bookman Old Style" pitchFamily="18" charset="0"/>
              </a:rPr>
              <a:t> </a:t>
            </a:r>
            <a:r>
              <a:rPr lang="en-US" sz="2800" b="1" dirty="0" smtClean="0">
                <a:solidFill>
                  <a:schemeClr val="tx2">
                    <a:lumMod val="75000"/>
                  </a:schemeClr>
                </a:solidFill>
                <a:latin typeface="Bookman Old Style" pitchFamily="18" charset="0"/>
              </a:rPr>
              <a:t>Model</a:t>
            </a:r>
            <a:endParaRPr lang="en-US" sz="2800" b="1" dirty="0">
              <a:solidFill>
                <a:schemeClr val="tx2">
                  <a:lumMod val="75000"/>
                </a:schemeClr>
              </a:solidFill>
              <a:latin typeface="Bookman Old Style" pitchFamily="18" charset="0"/>
            </a:endParaRPr>
          </a:p>
        </p:txBody>
      </p:sp>
      <p:sp>
        <p:nvSpPr>
          <p:cNvPr id="8" name="TextBox 7"/>
          <p:cNvSpPr txBox="1"/>
          <p:nvPr/>
        </p:nvSpPr>
        <p:spPr>
          <a:xfrm>
            <a:off x="4572000" y="1"/>
            <a:ext cx="4572000" cy="2031325"/>
          </a:xfrm>
          <a:prstGeom prst="rect">
            <a:avLst/>
          </a:prstGeom>
          <a:solidFill>
            <a:srgbClr val="FDCF51"/>
          </a:solidFill>
        </p:spPr>
        <p:txBody>
          <a:bodyPr wrap="square" rtlCol="0">
            <a:spAutoFit/>
          </a:bodyPr>
          <a:lstStyle/>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Proposed</a:t>
            </a:r>
            <a:r>
              <a:rPr lang="en-US" sz="1400" b="1" dirty="0" smtClean="0">
                <a:solidFill>
                  <a:schemeClr val="tx1">
                    <a:lumMod val="95000"/>
                    <a:lumOff val="5000"/>
                  </a:schemeClr>
                </a:solidFill>
                <a:latin typeface="Bookman Old Style" pitchFamily="18" charset="0"/>
              </a:rPr>
              <a:t> </a:t>
            </a:r>
            <a:r>
              <a:rPr lang="en-US" sz="1400" dirty="0" smtClean="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Software/Hardware</a:t>
            </a:r>
            <a:r>
              <a:rPr lang="en-US" sz="1400" b="1" dirty="0" smtClean="0">
                <a:solidFill>
                  <a:schemeClr val="tx1">
                    <a:lumMod val="95000"/>
                    <a:lumOff val="5000"/>
                  </a:schemeClr>
                </a:solidFill>
                <a:latin typeface="Bookman Old Style" pitchFamily="18" charset="0"/>
              </a:rPr>
              <a:t> </a:t>
            </a:r>
            <a:r>
              <a:rPr lang="en-US" sz="1400" dirty="0" smtClean="0">
                <a:solidFill>
                  <a:schemeClr val="tx1">
                    <a:lumMod val="95000"/>
                    <a:lumOff val="5000"/>
                  </a:schemeClr>
                </a:solidFill>
                <a:latin typeface="Bookman Old Style" pitchFamily="18" charset="0"/>
              </a:rPr>
              <a:t>Requirements</a:t>
            </a:r>
          </a:p>
          <a:p>
            <a:pPr fontAlgn="auto">
              <a:spcBef>
                <a:spcPts val="0"/>
              </a:spcBef>
              <a:spcAft>
                <a:spcPts val="0"/>
              </a:spcAft>
              <a:defRPr/>
            </a:pPr>
            <a:r>
              <a:rPr lang="en-US" sz="1400" b="1" dirty="0" smtClean="0">
                <a:solidFill>
                  <a:schemeClr val="tx1">
                    <a:lumMod val="95000"/>
                    <a:lumOff val="5000"/>
                  </a:schemeClr>
                </a:solidFill>
                <a:latin typeface="Bookman Old Style" pitchFamily="18" charset="0"/>
              </a:rPr>
              <a:t>Architecture</a:t>
            </a:r>
            <a:r>
              <a:rPr lang="en-US" sz="1400" dirty="0" smtClean="0">
                <a:solidFill>
                  <a:schemeClr val="tx1">
                    <a:lumMod val="95000"/>
                    <a:lumOff val="5000"/>
                  </a:schemeClr>
                </a:solidFill>
                <a:latin typeface="Bookman Old Style" pitchFamily="18" charset="0"/>
              </a:rPr>
              <a:t> </a:t>
            </a:r>
            <a:r>
              <a:rPr lang="en-US" sz="1400" b="1" dirty="0" smtClean="0">
                <a:solidFill>
                  <a:schemeClr val="tx1">
                    <a:lumMod val="95000"/>
                    <a:lumOff val="5000"/>
                  </a:schemeClr>
                </a:solidFill>
                <a:latin typeface="Bookman Old Style" pitchFamily="18" charset="0"/>
              </a:rPr>
              <a:t>Model</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UML  Diagrams/ER Diagrams/Flow Charts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References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4572000" cy="1981200"/>
          </a:xfrm>
          <a:solidFill>
            <a:srgbClr val="FFC000"/>
          </a:solidFill>
        </p:spPr>
        <p:txBody>
          <a:bodyPr/>
          <a:lstStyle/>
          <a:p>
            <a:pPr algn="l"/>
            <a:r>
              <a:rPr lang="en-US" b="1" dirty="0" smtClean="0">
                <a:solidFill>
                  <a:schemeClr val="tx2">
                    <a:lumMod val="75000"/>
                  </a:schemeClr>
                </a:solidFill>
                <a:latin typeface="Bookman Old Style" pitchFamily="18" charset="0"/>
              </a:rPr>
              <a:t/>
            </a:r>
            <a:br>
              <a:rPr lang="en-US" b="1" dirty="0" smtClean="0">
                <a:solidFill>
                  <a:schemeClr val="tx2">
                    <a:lumMod val="75000"/>
                  </a:schemeClr>
                </a:solidFill>
                <a:latin typeface="Bookman Old Style" pitchFamily="18" charset="0"/>
              </a:rPr>
            </a:br>
            <a:r>
              <a:rPr lang="en-US" b="1" dirty="0" smtClean="0">
                <a:solidFill>
                  <a:schemeClr val="tx2">
                    <a:lumMod val="75000"/>
                  </a:schemeClr>
                </a:solidFill>
                <a:latin typeface="Bookman Old Style" pitchFamily="18" charset="0"/>
              </a:rPr>
              <a:t>      Modules</a:t>
            </a:r>
            <a:endParaRPr lang="en-US" b="1" dirty="0">
              <a:solidFill>
                <a:schemeClr val="tx2">
                  <a:lumMod val="75000"/>
                </a:schemeClr>
              </a:solidFill>
              <a:latin typeface="Bookman Old Style" pitchFamily="18" charset="0"/>
            </a:endParaRPr>
          </a:p>
        </p:txBody>
      </p:sp>
      <p:sp>
        <p:nvSpPr>
          <p:cNvPr id="4" name="Rectangle 3"/>
          <p:cNvSpPr/>
          <p:nvPr/>
        </p:nvSpPr>
        <p:spPr>
          <a:xfrm>
            <a:off x="4572000" y="0"/>
            <a:ext cx="4572000" cy="2031325"/>
          </a:xfrm>
          <a:prstGeom prst="rect">
            <a:avLst/>
          </a:prstGeom>
          <a:solidFill>
            <a:srgbClr val="FDCF51"/>
          </a:solidFill>
        </p:spPr>
        <p:txBody>
          <a:bodyPr>
            <a:spAutoFit/>
          </a:bodyPr>
          <a:lstStyle/>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Proposed</a:t>
            </a:r>
            <a:r>
              <a:rPr lang="en-US" sz="1400" b="1" dirty="0" smtClean="0">
                <a:solidFill>
                  <a:schemeClr val="tx1">
                    <a:lumMod val="95000"/>
                    <a:lumOff val="5000"/>
                  </a:schemeClr>
                </a:solidFill>
                <a:latin typeface="Bookman Old Style" pitchFamily="18" charset="0"/>
              </a:rPr>
              <a:t> </a:t>
            </a:r>
            <a:r>
              <a:rPr lang="en-US" sz="1400" dirty="0" smtClean="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Software/Hardware</a:t>
            </a:r>
            <a:r>
              <a:rPr lang="en-US" sz="1400" b="1" dirty="0" smtClean="0">
                <a:solidFill>
                  <a:schemeClr val="tx1">
                    <a:lumMod val="95000"/>
                    <a:lumOff val="5000"/>
                  </a:schemeClr>
                </a:solidFill>
                <a:latin typeface="Bookman Old Style" pitchFamily="18" charset="0"/>
              </a:rPr>
              <a:t> </a:t>
            </a:r>
            <a:r>
              <a:rPr lang="en-US" sz="1400" dirty="0" smtClean="0">
                <a:solidFill>
                  <a:schemeClr val="tx1">
                    <a:lumMod val="95000"/>
                    <a:lumOff val="5000"/>
                  </a:schemeClr>
                </a:solidFill>
                <a:latin typeface="Bookman Old Style" pitchFamily="18" charset="0"/>
              </a:rPr>
              <a:t>Requirements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Architecture Model</a:t>
            </a:r>
          </a:p>
          <a:p>
            <a:pPr fontAlgn="auto">
              <a:spcBef>
                <a:spcPts val="0"/>
              </a:spcBef>
              <a:spcAft>
                <a:spcPts val="0"/>
              </a:spcAft>
              <a:defRPr/>
            </a:pPr>
            <a:r>
              <a:rPr lang="en-US" sz="1400" b="1" dirty="0" smtClean="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UML  Diagrams/ER Diagrams/Flow Charts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References</a:t>
            </a:r>
          </a:p>
        </p:txBody>
      </p:sp>
      <p:pic>
        <p:nvPicPr>
          <p:cNvPr id="5" name="Picture 4" descr="module.ffd.jpg"/>
          <p:cNvPicPr>
            <a:picLocks noChangeAspect="1"/>
          </p:cNvPicPr>
          <p:nvPr/>
        </p:nvPicPr>
        <p:blipFill>
          <a:blip r:embed="rId2"/>
          <a:stretch>
            <a:fillRect/>
          </a:stretch>
        </p:blipFill>
        <p:spPr>
          <a:xfrm>
            <a:off x="990600" y="2209800"/>
            <a:ext cx="6293183" cy="414813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4572000" cy="1981200"/>
          </a:xfrm>
          <a:solidFill>
            <a:srgbClr val="FFC000"/>
          </a:solidFill>
        </p:spPr>
        <p:txBody>
          <a:bodyPr/>
          <a:lstStyle/>
          <a:p>
            <a:r>
              <a:rPr lang="en-US" sz="2800" dirty="0" smtClean="0">
                <a:solidFill>
                  <a:schemeClr val="tx1">
                    <a:lumMod val="95000"/>
                    <a:lumOff val="5000"/>
                  </a:schemeClr>
                </a:solidFill>
                <a:latin typeface="Bookman Old Style" pitchFamily="18" charset="0"/>
              </a:rPr>
              <a:t/>
            </a:r>
            <a:br>
              <a:rPr lang="en-US" sz="2800" dirty="0" smtClean="0">
                <a:solidFill>
                  <a:schemeClr val="tx1">
                    <a:lumMod val="95000"/>
                    <a:lumOff val="5000"/>
                  </a:schemeClr>
                </a:solidFill>
                <a:latin typeface="Bookman Old Style" pitchFamily="18" charset="0"/>
              </a:rPr>
            </a:br>
            <a:r>
              <a:rPr lang="en-US" sz="2800" dirty="0" smtClean="0">
                <a:solidFill>
                  <a:schemeClr val="tx1">
                    <a:lumMod val="95000"/>
                    <a:lumOff val="5000"/>
                  </a:schemeClr>
                </a:solidFill>
                <a:latin typeface="Bookman Old Style" pitchFamily="18" charset="0"/>
              </a:rPr>
              <a:t/>
            </a:r>
            <a:br>
              <a:rPr lang="en-US" sz="2800" dirty="0" smtClean="0">
                <a:solidFill>
                  <a:schemeClr val="tx1">
                    <a:lumMod val="95000"/>
                    <a:lumOff val="5000"/>
                  </a:schemeClr>
                </a:solidFill>
                <a:latin typeface="Bookman Old Style" pitchFamily="18" charset="0"/>
              </a:rPr>
            </a:br>
            <a:r>
              <a:rPr lang="en-US" sz="2800" dirty="0" smtClean="0">
                <a:solidFill>
                  <a:schemeClr val="tx1">
                    <a:lumMod val="95000"/>
                    <a:lumOff val="5000"/>
                  </a:schemeClr>
                </a:solidFill>
                <a:latin typeface="Bookman Old Style" pitchFamily="18" charset="0"/>
              </a:rPr>
              <a:t/>
            </a:r>
            <a:br>
              <a:rPr lang="en-US" sz="2800" dirty="0" smtClean="0">
                <a:solidFill>
                  <a:schemeClr val="tx1">
                    <a:lumMod val="95000"/>
                    <a:lumOff val="5000"/>
                  </a:schemeClr>
                </a:solidFill>
                <a:latin typeface="Bookman Old Style" pitchFamily="18" charset="0"/>
              </a:rPr>
            </a:br>
            <a:r>
              <a:rPr lang="en-US" sz="2800" dirty="0" smtClean="0">
                <a:solidFill>
                  <a:schemeClr val="tx1">
                    <a:lumMod val="95000"/>
                    <a:lumOff val="5000"/>
                  </a:schemeClr>
                </a:solidFill>
                <a:latin typeface="Bookman Old Style" pitchFamily="18" charset="0"/>
              </a:rPr>
              <a:t>UML  Diagrams/ER Diagrams/Flow Charts</a:t>
            </a:r>
            <a:br>
              <a:rPr lang="en-US" sz="2800" dirty="0" smtClean="0">
                <a:solidFill>
                  <a:schemeClr val="tx1">
                    <a:lumMod val="95000"/>
                    <a:lumOff val="5000"/>
                  </a:schemeClr>
                </a:solidFill>
                <a:latin typeface="Bookman Old Style" pitchFamily="18" charset="0"/>
              </a:rPr>
            </a:br>
            <a:endParaRPr lang="en-US" sz="2800" dirty="0"/>
          </a:p>
        </p:txBody>
      </p:sp>
      <p:sp>
        <p:nvSpPr>
          <p:cNvPr id="4" name="Rectangle 3"/>
          <p:cNvSpPr/>
          <p:nvPr/>
        </p:nvSpPr>
        <p:spPr>
          <a:xfrm>
            <a:off x="4572000" y="0"/>
            <a:ext cx="4572000" cy="2031325"/>
          </a:xfrm>
          <a:prstGeom prst="rect">
            <a:avLst/>
          </a:prstGeom>
          <a:solidFill>
            <a:srgbClr val="FDCF51"/>
          </a:solidFill>
        </p:spPr>
        <p:txBody>
          <a:bodyPr>
            <a:spAutoFit/>
          </a:bodyPr>
          <a:lstStyle/>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Proposed</a:t>
            </a:r>
            <a:r>
              <a:rPr lang="en-US" sz="1400" b="1" dirty="0" smtClean="0">
                <a:solidFill>
                  <a:schemeClr val="tx1">
                    <a:lumMod val="95000"/>
                    <a:lumOff val="5000"/>
                  </a:schemeClr>
                </a:solidFill>
                <a:latin typeface="Bookman Old Style" pitchFamily="18" charset="0"/>
              </a:rPr>
              <a:t> </a:t>
            </a:r>
            <a:r>
              <a:rPr lang="en-US" sz="1400" dirty="0" smtClean="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Software/Hardware</a:t>
            </a:r>
            <a:r>
              <a:rPr lang="en-US" sz="1400" b="1" dirty="0" smtClean="0">
                <a:solidFill>
                  <a:schemeClr val="tx1">
                    <a:lumMod val="95000"/>
                    <a:lumOff val="5000"/>
                  </a:schemeClr>
                </a:solidFill>
                <a:latin typeface="Bookman Old Style" pitchFamily="18" charset="0"/>
              </a:rPr>
              <a:t> </a:t>
            </a:r>
            <a:r>
              <a:rPr lang="en-US" sz="1400" dirty="0" smtClean="0">
                <a:solidFill>
                  <a:schemeClr val="tx1">
                    <a:lumMod val="95000"/>
                    <a:lumOff val="5000"/>
                  </a:schemeClr>
                </a:solidFill>
                <a:latin typeface="Bookman Old Style" pitchFamily="18" charset="0"/>
              </a:rPr>
              <a:t>Requirements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Architecture Model</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b="1" smtClean="0">
                <a:solidFill>
                  <a:schemeClr val="tx1">
                    <a:lumMod val="95000"/>
                    <a:lumOff val="5000"/>
                  </a:schemeClr>
                </a:solidFill>
                <a:latin typeface="Bookman Old Style" pitchFamily="18" charset="0"/>
              </a:rPr>
              <a:t>UML</a:t>
            </a:r>
            <a:r>
              <a:rPr lang="en-US" sz="1400" smtClean="0">
                <a:solidFill>
                  <a:schemeClr val="tx1">
                    <a:lumMod val="95000"/>
                    <a:lumOff val="5000"/>
                  </a:schemeClr>
                </a:solidFill>
                <a:latin typeface="Bookman Old Style" pitchFamily="18" charset="0"/>
              </a:rPr>
              <a:t> </a:t>
            </a:r>
            <a:r>
              <a:rPr lang="en-US" sz="1400" b="1" smtClean="0">
                <a:solidFill>
                  <a:schemeClr val="tx1">
                    <a:lumMod val="95000"/>
                    <a:lumOff val="5000"/>
                  </a:schemeClr>
                </a:solidFill>
                <a:latin typeface="Bookman Old Style" pitchFamily="18" charset="0"/>
              </a:rPr>
              <a:t>Diagrams/ER</a:t>
            </a:r>
            <a:r>
              <a:rPr lang="en-US" sz="1400" smtClean="0">
                <a:solidFill>
                  <a:schemeClr val="tx1">
                    <a:lumMod val="95000"/>
                    <a:lumOff val="5000"/>
                  </a:schemeClr>
                </a:solidFill>
                <a:latin typeface="Bookman Old Style" pitchFamily="18" charset="0"/>
              </a:rPr>
              <a:t> </a:t>
            </a:r>
            <a:r>
              <a:rPr lang="en-US" sz="1400" b="1" dirty="0" smtClean="0">
                <a:solidFill>
                  <a:schemeClr val="tx1">
                    <a:lumMod val="95000"/>
                    <a:lumOff val="5000"/>
                  </a:schemeClr>
                </a:solidFill>
                <a:latin typeface="Bookman Old Style" pitchFamily="18" charset="0"/>
              </a:rPr>
              <a:t>Diagrams/Flow</a:t>
            </a:r>
            <a:r>
              <a:rPr lang="en-US" sz="1400" dirty="0" smtClean="0">
                <a:solidFill>
                  <a:schemeClr val="tx1">
                    <a:lumMod val="95000"/>
                    <a:lumOff val="5000"/>
                  </a:schemeClr>
                </a:solidFill>
                <a:latin typeface="Bookman Old Style" pitchFamily="18" charset="0"/>
              </a:rPr>
              <a:t> </a:t>
            </a:r>
            <a:r>
              <a:rPr lang="en-US" sz="1400" b="1" dirty="0" smtClean="0">
                <a:solidFill>
                  <a:schemeClr val="tx1">
                    <a:lumMod val="95000"/>
                    <a:lumOff val="5000"/>
                  </a:schemeClr>
                </a:solidFill>
                <a:latin typeface="Bookman Old Style" pitchFamily="18" charset="0"/>
              </a:rPr>
              <a:t>Charts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References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4800600" y="951"/>
            <a:ext cx="4343400" cy="1980467"/>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en-US" dirty="0">
              <a:solidFill>
                <a:schemeClr val="bg1">
                  <a:lumMod val="50000"/>
                </a:schemeClr>
              </a:solidFill>
              <a:latin typeface="Bookman Old Style" pitchFamily="18" charset="0"/>
              <a:cs typeface="Times New Roman" pitchFamily="18" charset="0"/>
            </a:endParaRPr>
          </a:p>
        </p:txBody>
      </p:sp>
      <p:sp>
        <p:nvSpPr>
          <p:cNvPr id="10" name="Rectangle 9"/>
          <p:cNvSpPr/>
          <p:nvPr/>
        </p:nvSpPr>
        <p:spPr>
          <a:xfrm>
            <a:off x="0" y="0"/>
            <a:ext cx="4795838" cy="1981418"/>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Bookman Old Style" pitchFamily="18" charset="0"/>
            </a:endParaRPr>
          </a:p>
        </p:txBody>
      </p:sp>
      <p:sp>
        <p:nvSpPr>
          <p:cNvPr id="8" name="TextBox 7"/>
          <p:cNvSpPr txBox="1"/>
          <p:nvPr/>
        </p:nvSpPr>
        <p:spPr>
          <a:xfrm>
            <a:off x="0" y="1364440"/>
            <a:ext cx="4795838" cy="646331"/>
          </a:xfrm>
          <a:prstGeom prst="rect">
            <a:avLst/>
          </a:prstGeom>
          <a:noFill/>
        </p:spPr>
        <p:txBody>
          <a:bodyPr>
            <a:spAutoFit/>
          </a:bodyPr>
          <a:lstStyle/>
          <a:p>
            <a:pPr fontAlgn="auto">
              <a:spcBef>
                <a:spcPts val="0"/>
              </a:spcBef>
              <a:spcAft>
                <a:spcPts val="0"/>
              </a:spcAft>
              <a:defRPr/>
            </a:pPr>
            <a:r>
              <a:rPr lang="en-GB" sz="3600" dirty="0">
                <a:solidFill>
                  <a:schemeClr val="tx2">
                    <a:lumMod val="75000"/>
                  </a:schemeClr>
                </a:solidFill>
                <a:latin typeface="Bookman Old Style" pitchFamily="18" charset="0"/>
                <a:cs typeface="Times New Roman" pitchFamily="18" charset="0"/>
              </a:rPr>
              <a:t>References</a:t>
            </a:r>
          </a:p>
        </p:txBody>
      </p:sp>
      <p:sp>
        <p:nvSpPr>
          <p:cNvPr id="4104" name="TextBox 4"/>
          <p:cNvSpPr txBox="1">
            <a:spLocks noChangeArrowheads="1"/>
          </p:cNvSpPr>
          <p:nvPr/>
        </p:nvSpPr>
        <p:spPr bwMode="auto">
          <a:xfrm>
            <a:off x="295406" y="2307372"/>
            <a:ext cx="8382000" cy="3785652"/>
          </a:xfrm>
          <a:prstGeom prst="rect">
            <a:avLst/>
          </a:prstGeom>
          <a:noFill/>
          <a:ln w="9525">
            <a:noFill/>
            <a:miter lim="800000"/>
            <a:headEnd/>
            <a:tailEnd/>
          </a:ln>
        </p:spPr>
        <p:txBody>
          <a:bodyPr wrap="square">
            <a:spAutoFit/>
          </a:bodyPr>
          <a:lstStyle/>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a:p>
            <a:endParaRPr lang="en-US" sz="2000" dirty="0">
              <a:latin typeface="Bookman Old Style" pitchFamily="18" charset="0"/>
              <a:cs typeface="Times New Roman" pitchFamily="18" charset="0"/>
            </a:endParaRPr>
          </a:p>
        </p:txBody>
      </p:sp>
      <p:sp>
        <p:nvSpPr>
          <p:cNvPr id="3" name="Content Placeholder 2"/>
          <p:cNvSpPr>
            <a:spLocks noGrp="1"/>
          </p:cNvSpPr>
          <p:nvPr>
            <p:ph idx="1"/>
          </p:nvPr>
        </p:nvSpPr>
        <p:spPr>
          <a:xfrm>
            <a:off x="381000" y="2062103"/>
            <a:ext cx="8437634" cy="4414897"/>
          </a:xfrm>
        </p:spPr>
        <p:txBody>
          <a:bodyPr/>
          <a:lstStyle/>
          <a:p>
            <a:pPr>
              <a:buAutoNum type="arabicPeriod"/>
            </a:pPr>
            <a:r>
              <a:rPr lang="en-US" sz="1800" dirty="0">
                <a:latin typeface="Bookman Old Style" panose="02050604050505020204" pitchFamily="18" charset="0"/>
              </a:rPr>
              <a:t>"Norovirus food poisoning", Foodborneillness.com,2018.[Online]. </a:t>
            </a:r>
            <a:r>
              <a:rPr lang="en-US" sz="1800" dirty="0" err="1">
                <a:latin typeface="Bookman Old Style" panose="02050604050505020204" pitchFamily="18" charset="0"/>
              </a:rPr>
              <a:t>Available:http</a:t>
            </a:r>
            <a:r>
              <a:rPr lang="en-US" sz="1800" dirty="0">
                <a:latin typeface="Bookman Old Style" panose="02050604050505020204" pitchFamily="18" charset="0"/>
              </a:rPr>
              <a:t>://www.foodborneillness.com/norovirus_food_poisonin g/. [Accessed: 28- Jun- 2018].</a:t>
            </a:r>
          </a:p>
          <a:p>
            <a:pPr>
              <a:buAutoNum type="arabicPeriod"/>
            </a:pPr>
            <a:r>
              <a:rPr lang="en-US" sz="1800" dirty="0">
                <a:latin typeface="Bookman Old Style" panose="02050604050505020204" pitchFamily="18" charset="0"/>
              </a:rPr>
              <a:t> 2. "http://time.com", Time, 2018. [Online]. Available: http://time.com/3768003/351000-people-die-of-food-poisoningglobally-every-year/. [Accessed: 28- Jun- 2018]. </a:t>
            </a:r>
          </a:p>
          <a:p>
            <a:pPr>
              <a:buAutoNum type="arabicPeriod"/>
            </a:pPr>
            <a:r>
              <a:rPr lang="en-US" sz="1800" dirty="0">
                <a:latin typeface="Bookman Old Style" panose="02050604050505020204" pitchFamily="18" charset="0"/>
              </a:rPr>
              <a:t>3. M. Omid, M. </a:t>
            </a:r>
            <a:r>
              <a:rPr lang="en-US" sz="1800" dirty="0" err="1">
                <a:latin typeface="Bookman Old Style" panose="02050604050505020204" pitchFamily="18" charset="0"/>
              </a:rPr>
              <a:t>Khojastehnazhand</a:t>
            </a:r>
            <a:r>
              <a:rPr lang="en-US" sz="1800" dirty="0">
                <a:latin typeface="Bookman Old Style" panose="02050604050505020204" pitchFamily="18" charset="0"/>
              </a:rPr>
              <a:t>, A. </a:t>
            </a:r>
            <a:r>
              <a:rPr lang="en-US" sz="1800" dirty="0" err="1">
                <a:latin typeface="Bookman Old Style" panose="02050604050505020204" pitchFamily="18" charset="0"/>
              </a:rPr>
              <a:t>Tabatabaeefar</a:t>
            </a:r>
            <a:r>
              <a:rPr lang="en-US" sz="1800" dirty="0">
                <a:latin typeface="Bookman Old Style" panose="02050604050505020204" pitchFamily="18" charset="0"/>
              </a:rPr>
              <a:t>, “Estimating volume and mass of fruit by image processing technique”, Volume 100, Issue 2, September 2010  </a:t>
            </a:r>
          </a:p>
          <a:p>
            <a:pPr>
              <a:buAutoNum type="arabicPeriod"/>
            </a:pPr>
            <a:r>
              <a:rPr lang="en-US" sz="1800" dirty="0">
                <a:latin typeface="Bookman Old Style" panose="02050604050505020204" pitchFamily="18" charset="0"/>
              </a:rPr>
              <a:t>4. J.W. Gardner, P.N. Bartlett, "A brief history of electronic noses ," Sens. &amp; Actuators B 18–19 (1994) 211–220</a:t>
            </a:r>
          </a:p>
          <a:p>
            <a:pPr>
              <a:buAutoNum type="arabicPeriod"/>
            </a:pPr>
            <a:r>
              <a:rPr lang="en-US" sz="1800" dirty="0">
                <a:latin typeface="Bookman Old Style" panose="02050604050505020204" pitchFamily="18" charset="0"/>
              </a:rPr>
              <a:t> 5. US, "</a:t>
            </a:r>
            <a:r>
              <a:rPr lang="en-US" sz="1800" dirty="0" err="1">
                <a:latin typeface="Bookman Old Style" panose="02050604050505020204" pitchFamily="18" charset="0"/>
              </a:rPr>
              <a:t>FOODsniffer</a:t>
            </a:r>
            <a:r>
              <a:rPr lang="en-US" sz="1800" dirty="0">
                <a:latin typeface="Bookman Old Style" panose="02050604050505020204" pitchFamily="18" charset="0"/>
              </a:rPr>
              <a:t>", Myfoodsniffer.com, 2018. [Online]. Available: http://www.myfoodsniffer.com. [Accessed: 25- Jun- 2018]. </a:t>
            </a:r>
          </a:p>
        </p:txBody>
      </p:sp>
      <p:sp>
        <p:nvSpPr>
          <p:cNvPr id="13" name="Rectangle 12"/>
          <p:cNvSpPr/>
          <p:nvPr/>
        </p:nvSpPr>
        <p:spPr>
          <a:xfrm>
            <a:off x="4795838" y="-14785"/>
            <a:ext cx="4343400" cy="2010771"/>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Abstract</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Introduction</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Existing System</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Proposed</a:t>
            </a:r>
            <a:r>
              <a:rPr lang="en-US" sz="1400" b="1" dirty="0" smtClean="0">
                <a:solidFill>
                  <a:schemeClr val="tx1">
                    <a:lumMod val="95000"/>
                    <a:lumOff val="5000"/>
                  </a:schemeClr>
                </a:solidFill>
                <a:latin typeface="Bookman Old Style" pitchFamily="18" charset="0"/>
              </a:rPr>
              <a:t> </a:t>
            </a:r>
            <a:r>
              <a:rPr lang="en-US" sz="1400" dirty="0" smtClean="0">
                <a:solidFill>
                  <a:schemeClr val="tx1">
                    <a:lumMod val="95000"/>
                    <a:lumOff val="5000"/>
                  </a:schemeClr>
                </a:solidFill>
                <a:latin typeface="Bookman Old Style" pitchFamily="18" charset="0"/>
              </a:rPr>
              <a:t>System</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Software/Hardware Requirements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Architecture Model</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Modules</a:t>
            </a:r>
          </a:p>
          <a:p>
            <a:pPr fontAlgn="auto">
              <a:spcBef>
                <a:spcPts val="0"/>
              </a:spcBef>
              <a:spcAft>
                <a:spcPts val="0"/>
              </a:spcAft>
              <a:defRPr/>
            </a:pPr>
            <a:r>
              <a:rPr lang="en-US" sz="1400" dirty="0" smtClean="0">
                <a:solidFill>
                  <a:schemeClr val="tx1">
                    <a:lumMod val="95000"/>
                    <a:lumOff val="5000"/>
                  </a:schemeClr>
                </a:solidFill>
                <a:latin typeface="Bookman Old Style" pitchFamily="18" charset="0"/>
              </a:rPr>
              <a:t>UML  Diagrams/ER Diagrams/Flow Charts</a:t>
            </a:r>
          </a:p>
          <a:p>
            <a:pPr fontAlgn="auto">
              <a:spcBef>
                <a:spcPts val="0"/>
              </a:spcBef>
              <a:spcAft>
                <a:spcPts val="0"/>
              </a:spcAft>
              <a:defRPr/>
            </a:pPr>
            <a:r>
              <a:rPr lang="en-US" sz="1400" b="1" dirty="0" smtClean="0">
                <a:solidFill>
                  <a:schemeClr val="tx1">
                    <a:lumMod val="95000"/>
                    <a:lumOff val="5000"/>
                  </a:schemeClr>
                </a:solidFill>
                <a:latin typeface="Bookman Old Style" pitchFamily="18" charset="0"/>
              </a:rPr>
              <a:t>References</a:t>
            </a:r>
          </a:p>
        </p:txBody>
      </p:sp>
    </p:spTree>
    <p:extLst>
      <p:ext uri="{BB962C8B-B14F-4D97-AF65-F5344CB8AC3E}">
        <p14:creationId xmlns="" xmlns:p14="http://schemas.microsoft.com/office/powerpoint/2010/main" val="743361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800600" y="0"/>
            <a:ext cx="4343400" cy="1570038"/>
          </a:xfrm>
          <a:prstGeom prst="rect">
            <a:avLst/>
          </a:prstGeom>
          <a:solidFill>
            <a:srgbClr val="FDCF51"/>
          </a:solidFill>
          <a:ln>
            <a:solidFill>
              <a:srgbClr val="FDCF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p:cNvSpPr/>
          <p:nvPr/>
        </p:nvSpPr>
        <p:spPr>
          <a:xfrm>
            <a:off x="0" y="0"/>
            <a:ext cx="4795838" cy="1570038"/>
          </a:xfrm>
          <a:prstGeom prst="rect">
            <a:avLst/>
          </a:prstGeom>
          <a:solidFill>
            <a:srgbClr val="FCBB06"/>
          </a:solidFill>
          <a:ln>
            <a:solidFill>
              <a:srgbClr val="FCBB0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TextBox 5"/>
          <p:cNvSpPr txBox="1"/>
          <p:nvPr/>
        </p:nvSpPr>
        <p:spPr>
          <a:xfrm>
            <a:off x="0" y="3100388"/>
            <a:ext cx="9144000" cy="862012"/>
          </a:xfrm>
          <a:prstGeom prst="rect">
            <a:avLst/>
          </a:prstGeom>
          <a:solidFill>
            <a:srgbClr val="FFFFCC"/>
          </a:solidFill>
        </p:spPr>
        <p:txBody>
          <a:bodyPr>
            <a:spAutoFit/>
          </a:bodyPr>
          <a:lstStyle/>
          <a:p>
            <a:pPr algn="ctr" fontAlgn="auto">
              <a:spcBef>
                <a:spcPts val="0"/>
              </a:spcBef>
              <a:spcAft>
                <a:spcPts val="0"/>
              </a:spcAft>
              <a:defRPr/>
            </a:pPr>
            <a:endParaRPr lang="en-IN" sz="5000" dirty="0">
              <a:solidFill>
                <a:schemeClr val="accent2">
                  <a:lumMod val="75000"/>
                </a:schemeClr>
              </a:solidFill>
              <a:latin typeface="Times New Roman" pitchFamily="18" charset="0"/>
              <a:cs typeface="Times New Roman" pitchFamily="18" charset="0"/>
            </a:endParaRPr>
          </a:p>
        </p:txBody>
      </p:sp>
      <p:sp>
        <p:nvSpPr>
          <p:cNvPr id="10245" name="TextBox 1"/>
          <p:cNvSpPr txBox="1">
            <a:spLocks noChangeArrowheads="1"/>
          </p:cNvSpPr>
          <p:nvPr/>
        </p:nvSpPr>
        <p:spPr bwMode="auto">
          <a:xfrm>
            <a:off x="4343400" y="2667000"/>
            <a:ext cx="990600" cy="1631950"/>
          </a:xfrm>
          <a:prstGeom prst="rect">
            <a:avLst/>
          </a:prstGeom>
          <a:noFill/>
          <a:ln w="9525">
            <a:noFill/>
            <a:miter lim="800000"/>
            <a:headEnd/>
            <a:tailEnd/>
          </a:ln>
        </p:spPr>
        <p:txBody>
          <a:bodyPr>
            <a:spAutoFit/>
          </a:bodyPr>
          <a:lstStyle/>
          <a:p>
            <a:r>
              <a:rPr lang="en-US" sz="10000" dirty="0">
                <a:latin typeface="Times New Roman" pitchFamily="18" charset="0"/>
                <a:cs typeface="Times New Roman" pitchFamily="18" charset="0"/>
              </a:rPr>
              <a:t>?</a:t>
            </a:r>
          </a:p>
        </p:txBody>
      </p:sp>
      <p:sp>
        <p:nvSpPr>
          <p:cNvPr id="10246" name="TextBox 1"/>
          <p:cNvSpPr txBox="1">
            <a:spLocks noChangeArrowheads="1"/>
          </p:cNvSpPr>
          <p:nvPr/>
        </p:nvSpPr>
        <p:spPr bwMode="auto">
          <a:xfrm>
            <a:off x="2895600" y="123825"/>
            <a:ext cx="4343400" cy="1400175"/>
          </a:xfrm>
          <a:prstGeom prst="rect">
            <a:avLst/>
          </a:prstGeom>
          <a:noFill/>
          <a:ln w="9525">
            <a:noFill/>
            <a:miter lim="800000"/>
            <a:headEnd/>
            <a:tailEnd/>
          </a:ln>
        </p:spPr>
        <p:txBody>
          <a:bodyPr>
            <a:spAutoFit/>
          </a:bodyPr>
          <a:lstStyle/>
          <a:p>
            <a:r>
              <a:rPr lang="en-US" sz="8500">
                <a:latin typeface="Times New Roman" pitchFamily="18" charset="0"/>
                <a:cs typeface="Times New Roman" pitchFamily="18" charset="0"/>
              </a:rPr>
              <a:t>Q and A?</a:t>
            </a:r>
          </a:p>
        </p:txBody>
      </p:sp>
      <p:sp>
        <p:nvSpPr>
          <p:cNvPr id="10" name="TextBox 9"/>
          <p:cNvSpPr txBox="1"/>
          <p:nvPr/>
        </p:nvSpPr>
        <p:spPr>
          <a:xfrm>
            <a:off x="0" y="6553200"/>
            <a:ext cx="9144000" cy="307975"/>
          </a:xfrm>
          <a:prstGeom prst="rect">
            <a:avLst/>
          </a:prstGeom>
          <a:solidFill>
            <a:srgbClr val="04064C"/>
          </a:solidFill>
        </p:spPr>
        <p:txBody>
          <a:bodyPr>
            <a:spAutoFit/>
          </a:bodyPr>
          <a:lstStyle/>
          <a:p>
            <a:pPr algn="r" fontAlgn="auto">
              <a:spcBef>
                <a:spcPts val="0"/>
              </a:spcBef>
              <a:spcAft>
                <a:spcPts val="0"/>
              </a:spcAft>
              <a:defRPr/>
            </a:pPr>
            <a:endParaRPr lang="en-US" sz="1350" b="1" dirty="0">
              <a:solidFill>
                <a:schemeClr val="bg1"/>
              </a:solidFill>
              <a:latin typeface="Arial" pitchFamily="34" charset="0"/>
              <a:cs typeface="Arial" pitchFamily="34" charset="0"/>
            </a:endParaRPr>
          </a:p>
        </p:txBody>
      </p:sp>
      <p:sp>
        <p:nvSpPr>
          <p:cNvPr id="2" name="TextBox 1"/>
          <p:cNvSpPr txBox="1"/>
          <p:nvPr/>
        </p:nvSpPr>
        <p:spPr>
          <a:xfrm>
            <a:off x="2971800" y="5727940"/>
            <a:ext cx="3464346" cy="707886"/>
          </a:xfrm>
          <a:prstGeom prst="rect">
            <a:avLst/>
          </a:prstGeom>
          <a:noFill/>
        </p:spPr>
        <p:txBody>
          <a:bodyPr wrap="none" rtlCol="0">
            <a:spAutoFit/>
          </a:bodyPr>
          <a:lstStyle/>
          <a:p>
            <a:r>
              <a:rPr lang="en-IN" sz="4000" dirty="0">
                <a:solidFill>
                  <a:srgbClr val="C00000"/>
                </a:solidFill>
                <a:latin typeface="Broadway" panose="04040905080B02020502" pitchFamily="82" charset="0"/>
              </a:rPr>
              <a:t>THANK YOU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TotalTime>
  <Words>984</Words>
  <Application>Microsoft Office PowerPoint</Application>
  <PresentationFormat>On-screen Show (4:3)</PresentationFormat>
  <Paragraphs>180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E-Fresh : Food Freshness Detector</vt:lpstr>
      <vt:lpstr>Slide 2</vt:lpstr>
      <vt:lpstr>Slide 3</vt:lpstr>
      <vt:lpstr>Slide 4</vt:lpstr>
      <vt:lpstr>Slide 5</vt:lpstr>
      <vt:lpstr>Slide 6</vt:lpstr>
      <vt:lpstr>Slide 7</vt:lpstr>
      <vt:lpstr>   Architecture Model</vt:lpstr>
      <vt:lpstr>       Modules</vt:lpstr>
      <vt:lpstr>   UML  Diagrams/ER Diagrams/Flow Charts </vt:lpstr>
      <vt:lpstr>Slide 11</vt:lpstr>
      <vt:lpstr>Slide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Sambit</dc:creator>
  <cp:lastModifiedBy>cse</cp:lastModifiedBy>
  <cp:revision>155</cp:revision>
  <dcterms:created xsi:type="dcterms:W3CDTF">2013-05-08T19:42:37Z</dcterms:created>
  <dcterms:modified xsi:type="dcterms:W3CDTF">2019-12-27T10:03:12Z</dcterms:modified>
</cp:coreProperties>
</file>