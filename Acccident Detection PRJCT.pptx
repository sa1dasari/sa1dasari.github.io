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97" r:id="rId3"/>
    <p:sldId id="257" r:id="rId4"/>
    <p:sldId id="285" r:id="rId5"/>
    <p:sldId id="293" r:id="rId6"/>
    <p:sldId id="296" r:id="rId7"/>
    <p:sldId id="301" r:id="rId8"/>
    <p:sldId id="304" r:id="rId9"/>
    <p:sldId id="305" r:id="rId10"/>
    <p:sldId id="307" r:id="rId11"/>
    <p:sldId id="308" r:id="rId12"/>
    <p:sldId id="306" r:id="rId13"/>
    <p:sldId id="295" r:id="rId14"/>
    <p:sldId id="284"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521415D9-36F7-43E2-AB2F-B90AF26B5E84}">
      <p14:sectionLst xmlns:p14="http://schemas.microsoft.com/office/powerpoint/2010/main">
        <p14:section name="Default Section" id="{58113B60-62F9-4973-80AF-1B69C105200D}">
          <p14:sldIdLst>
            <p14:sldId id="256"/>
            <p14:sldId id="297"/>
            <p14:sldId id="257"/>
            <p14:sldId id="285"/>
            <p14:sldId id="293"/>
            <p14:sldId id="296"/>
            <p14:sldId id="301"/>
            <p14:sldId id="304"/>
            <p14:sldId id="305"/>
            <p14:sldId id="307"/>
            <p14:sldId id="308"/>
            <p14:sldId id="306"/>
            <p14:sldId id="295"/>
            <p14:sldId id="2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064C"/>
    <a:srgbClr val="FDCF51"/>
    <a:srgbClr val="F7B703"/>
    <a:srgbClr val="FFFFCC"/>
    <a:srgbClr val="FDDB7B"/>
    <a:srgbClr val="FCBB06"/>
    <a:srgbClr val="3441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3" autoAdjust="0"/>
    <p:restoredTop sz="94321" autoAdjust="0"/>
  </p:normalViewPr>
  <p:slideViewPr>
    <p:cSldViewPr>
      <p:cViewPr varScale="1">
        <p:scale>
          <a:sx n="86" d="100"/>
          <a:sy n="86" d="100"/>
        </p:scale>
        <p:origin x="159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E8083A5-835A-40A3-827E-61C33DF03009}" type="datetimeFigureOut">
              <a:rPr lang="en-US"/>
              <a:pPr>
                <a:defRPr/>
              </a:pPr>
              <a:t>3/13/2021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8D26484F-62D4-4800-A64A-6E4326EED9F5}" type="slidenum">
              <a:rPr lang="en-US"/>
              <a:pPr>
                <a:defRPr/>
              </a:pPr>
              <a:t>‹#›</a:t>
            </a:fld>
            <a:endParaRPr lang="en-US"/>
          </a:p>
        </p:txBody>
      </p:sp>
    </p:spTree>
    <p:extLst>
      <p:ext uri="{BB962C8B-B14F-4D97-AF65-F5344CB8AC3E}">
        <p14:creationId xmlns:p14="http://schemas.microsoft.com/office/powerpoint/2010/main" val="17544329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8D26484F-62D4-4800-A64A-6E4326EED9F5}" type="slidenum">
              <a:rPr lang="en-US" smtClean="0"/>
              <a:pPr>
                <a:defRPr/>
              </a:pPr>
              <a:t>10</a:t>
            </a:fld>
            <a:endParaRPr lang="en-US"/>
          </a:p>
        </p:txBody>
      </p:sp>
    </p:spTree>
    <p:extLst>
      <p:ext uri="{BB962C8B-B14F-4D97-AF65-F5344CB8AC3E}">
        <p14:creationId xmlns:p14="http://schemas.microsoft.com/office/powerpoint/2010/main" val="1192603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8D26484F-62D4-4800-A64A-6E4326EED9F5}" type="slidenum">
              <a:rPr lang="en-US" smtClean="0"/>
              <a:pPr>
                <a:defRPr/>
              </a:pPr>
              <a:t>11</a:t>
            </a:fld>
            <a:endParaRPr lang="en-US"/>
          </a:p>
        </p:txBody>
      </p:sp>
    </p:spTree>
    <p:extLst>
      <p:ext uri="{BB962C8B-B14F-4D97-AF65-F5344CB8AC3E}">
        <p14:creationId xmlns:p14="http://schemas.microsoft.com/office/powerpoint/2010/main" val="3712668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8D26484F-62D4-4800-A64A-6E4326EED9F5}" type="slidenum">
              <a:rPr lang="en-US" smtClean="0"/>
              <a:pPr>
                <a:defRPr/>
              </a:pPr>
              <a:t>12</a:t>
            </a:fld>
            <a:endParaRPr lang="en-US"/>
          </a:p>
        </p:txBody>
      </p:sp>
    </p:spTree>
    <p:extLst>
      <p:ext uri="{BB962C8B-B14F-4D97-AF65-F5344CB8AC3E}">
        <p14:creationId xmlns:p14="http://schemas.microsoft.com/office/powerpoint/2010/main" val="2872968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7416384-70EB-4F7A-A3EB-83E066DA6C13}" type="datetimeFigureOut">
              <a:rPr lang="en-US"/>
              <a:pPr>
                <a:defRPr/>
              </a:pPr>
              <a:t>3/13/2021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B3A640-5A90-4EFE-8EE3-1763810B463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92A7FFD-B393-4DE8-94CA-505F8CB7B4E1}" type="datetimeFigureOut">
              <a:rPr lang="en-US"/>
              <a:pPr>
                <a:defRPr/>
              </a:pPr>
              <a:t>3/13/2021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32FD1A0-CEE1-4C34-B837-4E0DE6B7364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14209CC-5F62-4A0E-B68D-CDC1E312E65D}" type="datetimeFigureOut">
              <a:rPr lang="en-US"/>
              <a:pPr>
                <a:defRPr/>
              </a:pPr>
              <a:t>3/13/2021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1ABBB5-69A4-49F2-8625-894EA093618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294B881-E9C7-4238-86B8-C8704B287258}" type="datetimeFigureOut">
              <a:rPr lang="en-US"/>
              <a:pPr>
                <a:defRPr/>
              </a:pPr>
              <a:t>3/13/2021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E2A47C7-26BB-4129-97B3-85EC2F2FAE3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82A3704-44A8-48FD-B28C-C72E0174B7A2}" type="datetimeFigureOut">
              <a:rPr lang="en-US"/>
              <a:pPr>
                <a:defRPr/>
              </a:pPr>
              <a:t>3/13/2021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5E606B0-FB8B-4E2B-8CAD-CA27997D94F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D4978CF-B59D-4AAE-AE38-F349BE4E1F78}" type="datetimeFigureOut">
              <a:rPr lang="en-US"/>
              <a:pPr>
                <a:defRPr/>
              </a:pPr>
              <a:t>3/13/2021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FAA6506-7608-4C24-BDCA-7091E7897A2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38A00EB-B883-4DF0-92AB-E0F6B7566B2C}" type="datetimeFigureOut">
              <a:rPr lang="en-US"/>
              <a:pPr>
                <a:defRPr/>
              </a:pPr>
              <a:t>3/13/2021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E6B81CF-C30D-4F9D-9783-B5C15BB34D2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8205479-5FF7-42F7-9A14-3F7912E6F615}" type="datetimeFigureOut">
              <a:rPr lang="en-US"/>
              <a:pPr>
                <a:defRPr/>
              </a:pPr>
              <a:t>3/13/2021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3237EFC-1C0A-4015-85CD-08B4E188667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A547F86-7B90-484B-976C-E9C83B5E17BB}" type="datetimeFigureOut">
              <a:rPr lang="en-US"/>
              <a:pPr>
                <a:defRPr/>
              </a:pPr>
              <a:t>3/13/2021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7BD6424-3123-41A5-8E55-1B3CB96D048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F3DB4C-BF07-4AE8-BD70-46188008FA91}" type="datetimeFigureOut">
              <a:rPr lang="en-US"/>
              <a:pPr>
                <a:defRPr/>
              </a:pPr>
              <a:t>3/13/2021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85698F-5D70-447B-9640-2F5B44CB74D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DB0C623-8BB3-4A0C-907C-C425B179B16C}" type="datetimeFigureOut">
              <a:rPr lang="en-US"/>
              <a:pPr>
                <a:defRPr/>
              </a:pPr>
              <a:t>3/13/2021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1B2FCE0-F572-44D1-8EC6-98221A3D30E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8E78C4BE-6499-4547-96C5-BC05057DA7AD}" type="datetimeFigureOut">
              <a:rPr lang="en-US"/>
              <a:pPr>
                <a:defRPr/>
              </a:pPr>
              <a:t>3/13/2021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A7FC8C8-D2D9-4AC5-BD62-E4E82A71281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5257800"/>
            <a:ext cx="9144000" cy="1600200"/>
          </a:xfrm>
        </p:spPr>
        <p:txBody>
          <a:bodyPr rtlCol="0">
            <a:normAutofit fontScale="92500" lnSpcReduction="20000"/>
          </a:bodyPr>
          <a:lstStyle/>
          <a:p>
            <a:pPr algn="r" eaLnBrk="1" fontAlgn="auto" hangingPunct="1">
              <a:spcAft>
                <a:spcPts val="0"/>
              </a:spcAft>
              <a:buFont typeface="Arial" pitchFamily="34" charset="0"/>
              <a:buNone/>
              <a:defRPr/>
            </a:pPr>
            <a:r>
              <a:rPr lang="en-US" sz="2000" b="1" dirty="0">
                <a:solidFill>
                  <a:schemeClr val="tx2">
                    <a:lumMod val="50000"/>
                  </a:schemeClr>
                </a:solidFill>
                <a:latin typeface="Bookman Old Style" pitchFamily="18" charset="0"/>
              </a:rPr>
              <a:t>           Presented by</a:t>
            </a:r>
          </a:p>
          <a:p>
            <a:pPr algn="r" eaLnBrk="1" fontAlgn="auto" hangingPunct="1">
              <a:spcAft>
                <a:spcPts val="0"/>
              </a:spcAft>
              <a:defRPr/>
            </a:pPr>
            <a:r>
              <a:rPr lang="en-US" sz="2000" b="1" dirty="0" err="1">
                <a:solidFill>
                  <a:schemeClr val="tx2">
                    <a:lumMod val="50000"/>
                  </a:schemeClr>
                </a:solidFill>
                <a:latin typeface="Bookman Old Style" pitchFamily="18" charset="0"/>
              </a:rPr>
              <a:t>Sawan</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Dasari</a:t>
            </a:r>
            <a:r>
              <a:rPr lang="en-US" sz="2000" b="1" dirty="0">
                <a:solidFill>
                  <a:schemeClr val="tx2">
                    <a:lumMod val="50000"/>
                  </a:schemeClr>
                </a:solidFill>
                <a:latin typeface="Bookman Old Style" pitchFamily="18" charset="0"/>
              </a:rPr>
              <a:t> : 17211a0558</a:t>
            </a:r>
          </a:p>
          <a:p>
            <a:pPr algn="r" eaLnBrk="1" fontAlgn="auto" hangingPunct="1">
              <a:spcAft>
                <a:spcPts val="0"/>
              </a:spcAft>
              <a:defRPr/>
            </a:pP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CH.Abhinav</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Goud</a:t>
            </a:r>
            <a:r>
              <a:rPr lang="en-US" sz="2000" b="1" dirty="0">
                <a:solidFill>
                  <a:schemeClr val="tx2">
                    <a:lumMod val="50000"/>
                  </a:schemeClr>
                </a:solidFill>
                <a:latin typeface="Bookman Old Style" pitchFamily="18" charset="0"/>
              </a:rPr>
              <a:t> : 17211a0547</a:t>
            </a:r>
          </a:p>
          <a:p>
            <a:pPr algn="r" eaLnBrk="1" fontAlgn="auto" hangingPunct="1">
              <a:spcAft>
                <a:spcPts val="0"/>
              </a:spcAft>
              <a:defRPr/>
            </a:pPr>
            <a:r>
              <a:rPr lang="en-US" sz="2000" b="1" dirty="0" err="1">
                <a:solidFill>
                  <a:schemeClr val="tx2">
                    <a:lumMod val="50000"/>
                  </a:schemeClr>
                </a:solidFill>
                <a:latin typeface="Bookman Old Style" pitchFamily="18" charset="0"/>
              </a:rPr>
              <a:t>B.Srikar</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Raju</a:t>
            </a:r>
            <a:r>
              <a:rPr lang="en-US" sz="2000" b="1" dirty="0">
                <a:solidFill>
                  <a:schemeClr val="tx2">
                    <a:lumMod val="50000"/>
                  </a:schemeClr>
                </a:solidFill>
                <a:latin typeface="Bookman Old Style" pitchFamily="18" charset="0"/>
              </a:rPr>
              <a:t> : 17211a0534</a:t>
            </a:r>
          </a:p>
          <a:p>
            <a:pPr algn="r" eaLnBrk="1" fontAlgn="auto" hangingPunct="1">
              <a:spcAft>
                <a:spcPts val="0"/>
              </a:spcAft>
              <a:defRPr/>
            </a:pPr>
            <a:r>
              <a:rPr lang="en-US" sz="2000" b="1" dirty="0">
                <a:solidFill>
                  <a:schemeClr val="tx2">
                    <a:lumMod val="50000"/>
                  </a:schemeClr>
                </a:solidFill>
                <a:latin typeface="Bookman Old Style" pitchFamily="18" charset="0"/>
              </a:rPr>
              <a:t>D. Rama </a:t>
            </a:r>
            <a:r>
              <a:rPr lang="en-US" sz="2000" b="1" dirty="0" err="1">
                <a:solidFill>
                  <a:schemeClr val="tx2">
                    <a:lumMod val="50000"/>
                  </a:schemeClr>
                </a:solidFill>
                <a:latin typeface="Bookman Old Style" pitchFamily="18" charset="0"/>
              </a:rPr>
              <a:t>Raghava</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Raju</a:t>
            </a:r>
            <a:r>
              <a:rPr lang="en-US" sz="2000" b="1" dirty="0">
                <a:solidFill>
                  <a:schemeClr val="tx2">
                    <a:lumMod val="50000"/>
                  </a:schemeClr>
                </a:solidFill>
                <a:latin typeface="Bookman Old Style" pitchFamily="18" charset="0"/>
              </a:rPr>
              <a:t> : 17211a0556</a:t>
            </a:r>
          </a:p>
        </p:txBody>
      </p:sp>
      <p:sp>
        <p:nvSpPr>
          <p:cNvPr id="8" name="TextBox 7"/>
          <p:cNvSpPr txBox="1"/>
          <p:nvPr/>
        </p:nvSpPr>
        <p:spPr>
          <a:xfrm>
            <a:off x="0" y="3867150"/>
            <a:ext cx="9144000" cy="400050"/>
          </a:xfrm>
          <a:prstGeom prst="rect">
            <a:avLst/>
          </a:prstGeom>
          <a:solidFill>
            <a:srgbClr val="FCBB06"/>
          </a:solidFill>
        </p:spPr>
        <p:txBody>
          <a:bodyPr>
            <a:spAutoFit/>
          </a:bodyPr>
          <a:lstStyle/>
          <a:p>
            <a:pPr algn="ctr" fontAlgn="auto">
              <a:spcBef>
                <a:spcPts val="0"/>
              </a:spcBef>
              <a:spcAft>
                <a:spcPts val="0"/>
              </a:spcAft>
              <a:defRPr/>
            </a:pPr>
            <a:r>
              <a:rPr lang="en-US" sz="2000" b="1" dirty="0">
                <a:solidFill>
                  <a:schemeClr val="tx2">
                    <a:lumMod val="50000"/>
                  </a:schemeClr>
                </a:solidFill>
                <a:latin typeface="Bookman Old Style" pitchFamily="18" charset="0"/>
                <a:cs typeface="Times New Roman" pitchFamily="18" charset="0"/>
              </a:rPr>
              <a:t>Under the Guidance of </a:t>
            </a:r>
          </a:p>
        </p:txBody>
      </p:sp>
      <p:sp>
        <p:nvSpPr>
          <p:cNvPr id="4" name="Rounded Rectangle 3"/>
          <p:cNvSpPr/>
          <p:nvPr/>
        </p:nvSpPr>
        <p:spPr>
          <a:xfrm>
            <a:off x="609600" y="1905000"/>
            <a:ext cx="8001000" cy="1752600"/>
          </a:xfrm>
          <a:prstGeom prst="roundRect">
            <a:avLst/>
          </a:prstGeom>
          <a:solidFill>
            <a:srgbClr val="0406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Bookman Old Style" pitchFamily="18" charset="0"/>
            </a:endParaRPr>
          </a:p>
        </p:txBody>
      </p:sp>
      <p:sp>
        <p:nvSpPr>
          <p:cNvPr id="2054" name="Title 6"/>
          <p:cNvSpPr>
            <a:spLocks noGrp="1"/>
          </p:cNvSpPr>
          <p:nvPr>
            <p:ph type="ctrTitle"/>
          </p:nvPr>
        </p:nvSpPr>
        <p:spPr>
          <a:xfrm>
            <a:off x="685800" y="2035175"/>
            <a:ext cx="7772400" cy="1470025"/>
          </a:xfrm>
        </p:spPr>
        <p:txBody>
          <a:bodyPr/>
          <a:lstStyle/>
          <a:p>
            <a:pPr eaLnBrk="1" hangingPunct="1"/>
            <a:r>
              <a:rPr lang="en-US" sz="2800" b="1" dirty="0">
                <a:solidFill>
                  <a:schemeClr val="bg1"/>
                </a:solidFill>
                <a:latin typeface="Franklin Gothic Medium" pitchFamily="34" charset="0"/>
                <a:cs typeface="Arial" charset="0"/>
              </a:rPr>
              <a:t>Automatic detection of unexpected accidents under bad CCTV monitoring conditions</a:t>
            </a:r>
          </a:p>
        </p:txBody>
      </p:sp>
      <p:sp>
        <p:nvSpPr>
          <p:cNvPr id="10" name="Rectangle 9"/>
          <p:cNvSpPr/>
          <p:nvPr/>
        </p:nvSpPr>
        <p:spPr>
          <a:xfrm>
            <a:off x="4800600" y="0"/>
            <a:ext cx="4343400" cy="1570038"/>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latin typeface="Bookman Old Style" pitchFamily="18" charset="0"/>
            </a:endParaRPr>
          </a:p>
        </p:txBody>
      </p:sp>
      <p:sp>
        <p:nvSpPr>
          <p:cNvPr id="12" name="Rectangle 11"/>
          <p:cNvSpPr/>
          <p:nvPr/>
        </p:nvSpPr>
        <p:spPr>
          <a:xfrm>
            <a:off x="0" y="0"/>
            <a:ext cx="4795838" cy="157003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14" name="TextBox 13"/>
          <p:cNvSpPr txBox="1"/>
          <p:nvPr/>
        </p:nvSpPr>
        <p:spPr>
          <a:xfrm>
            <a:off x="0" y="4267200"/>
            <a:ext cx="9144000" cy="1015663"/>
          </a:xfrm>
          <a:prstGeom prst="rect">
            <a:avLst/>
          </a:prstGeom>
          <a:solidFill>
            <a:srgbClr val="FDCF51"/>
          </a:solidFill>
        </p:spPr>
        <p:txBody>
          <a:bodyPr>
            <a:spAutoFit/>
          </a:bodyPr>
          <a:lstStyle/>
          <a:p>
            <a:pPr algn="ctr" fontAlgn="auto">
              <a:spcBef>
                <a:spcPts val="0"/>
              </a:spcBef>
              <a:spcAft>
                <a:spcPts val="0"/>
              </a:spcAft>
              <a:defRPr/>
            </a:pPr>
            <a:r>
              <a:rPr lang="en-US" sz="2000" b="1" dirty="0">
                <a:solidFill>
                  <a:schemeClr val="tx2">
                    <a:lumMod val="50000"/>
                  </a:schemeClr>
                </a:solidFill>
                <a:latin typeface="Bookman Old Style" pitchFamily="18" charset="0"/>
                <a:cs typeface="Times New Roman" pitchFamily="18" charset="0"/>
              </a:rPr>
              <a:t>Dr . Suresh </a:t>
            </a:r>
            <a:r>
              <a:rPr lang="en-US" sz="2000" b="1" dirty="0" err="1">
                <a:solidFill>
                  <a:schemeClr val="tx2">
                    <a:lumMod val="50000"/>
                  </a:schemeClr>
                </a:solidFill>
                <a:latin typeface="Bookman Old Style" pitchFamily="18" charset="0"/>
                <a:cs typeface="Times New Roman" pitchFamily="18" charset="0"/>
              </a:rPr>
              <a:t>Dara</a:t>
            </a:r>
            <a:r>
              <a:rPr lang="en-US" sz="2000" b="1" dirty="0">
                <a:solidFill>
                  <a:schemeClr val="tx2">
                    <a:lumMod val="50000"/>
                  </a:schemeClr>
                </a:solidFill>
                <a:latin typeface="Bookman Old Style" pitchFamily="18" charset="0"/>
                <a:cs typeface="Times New Roman" pitchFamily="18" charset="0"/>
              </a:rPr>
              <a:t> , </a:t>
            </a:r>
            <a:r>
              <a:rPr lang="en-US" sz="1600" b="1" dirty="0">
                <a:solidFill>
                  <a:schemeClr val="tx2">
                    <a:lumMod val="50000"/>
                  </a:schemeClr>
                </a:solidFill>
                <a:latin typeface="Bookman Old Style" pitchFamily="18" charset="0"/>
                <a:cs typeface="Times New Roman" pitchFamily="18" charset="0"/>
              </a:rPr>
              <a:t>Professor</a:t>
            </a:r>
            <a:endParaRPr lang="en-US" sz="2000" b="1" dirty="0">
              <a:solidFill>
                <a:schemeClr val="tx2">
                  <a:lumMod val="50000"/>
                </a:schemeClr>
              </a:solidFill>
              <a:latin typeface="Bookman Old Style" pitchFamily="18" charset="0"/>
              <a:cs typeface="Times New Roman" pitchFamily="18" charset="0"/>
            </a:endParaRPr>
          </a:p>
          <a:p>
            <a:pPr algn="ctr" fontAlgn="auto">
              <a:spcBef>
                <a:spcPts val="0"/>
              </a:spcBef>
              <a:spcAft>
                <a:spcPts val="0"/>
              </a:spcAft>
              <a:defRPr/>
            </a:pPr>
            <a:r>
              <a:rPr lang="en-US" sz="2000" b="1" dirty="0">
                <a:solidFill>
                  <a:srgbClr val="002060"/>
                </a:solidFill>
                <a:latin typeface="Bookman Old Style" pitchFamily="18" charset="0"/>
                <a:cs typeface="Arial" pitchFamily="34" charset="0"/>
              </a:rPr>
              <a:t>Department of Computer Science &amp; Engineering</a:t>
            </a:r>
          </a:p>
          <a:p>
            <a:pPr algn="ctr" fontAlgn="auto">
              <a:spcBef>
                <a:spcPts val="0"/>
              </a:spcBef>
              <a:spcAft>
                <a:spcPts val="0"/>
              </a:spcAft>
              <a:defRPr/>
            </a:pPr>
            <a:r>
              <a:rPr lang="en-US" sz="2000" b="1" dirty="0">
                <a:solidFill>
                  <a:srgbClr val="002060"/>
                </a:solidFill>
                <a:latin typeface="Bookman Old Style" pitchFamily="18" charset="0"/>
                <a:cs typeface="Arial" pitchFamily="34" charset="0"/>
              </a:rPr>
              <a:t>B V </a:t>
            </a:r>
            <a:r>
              <a:rPr lang="en-US" sz="2000" b="1" dirty="0" err="1">
                <a:solidFill>
                  <a:srgbClr val="002060"/>
                </a:solidFill>
                <a:latin typeface="Bookman Old Style" pitchFamily="18" charset="0"/>
                <a:cs typeface="Arial" pitchFamily="34" charset="0"/>
              </a:rPr>
              <a:t>Raju</a:t>
            </a:r>
            <a:r>
              <a:rPr lang="en-US" sz="2000" b="1" dirty="0">
                <a:solidFill>
                  <a:srgbClr val="002060"/>
                </a:solidFill>
                <a:latin typeface="Bookman Old Style" pitchFamily="18" charset="0"/>
                <a:cs typeface="Arial" pitchFamily="34" charset="0"/>
              </a:rPr>
              <a:t> Institute of Technology, </a:t>
            </a:r>
            <a:r>
              <a:rPr lang="en-US" sz="2000" b="1" dirty="0" err="1">
                <a:solidFill>
                  <a:srgbClr val="002060"/>
                </a:solidFill>
                <a:latin typeface="Bookman Old Style" pitchFamily="18" charset="0"/>
                <a:cs typeface="Arial" pitchFamily="34" charset="0"/>
              </a:rPr>
              <a:t>Narsapur</a:t>
            </a:r>
            <a:r>
              <a:rPr lang="en-US" sz="2000" b="1" dirty="0">
                <a:solidFill>
                  <a:srgbClr val="002060"/>
                </a:solidFill>
                <a:latin typeface="Bookman Old Style" pitchFamily="18" charset="0"/>
                <a:cs typeface="Arial" pitchFamily="34" charset="0"/>
              </a:rPr>
              <a:t> </a:t>
            </a:r>
            <a:endParaRPr lang="en-US" sz="2000" b="1" dirty="0">
              <a:solidFill>
                <a:srgbClr val="002060"/>
              </a:solidFill>
              <a:latin typeface="Bookman Old Style" pitchFamily="18" charset="0"/>
              <a:cs typeface="Times New Roman" pitchFamily="18" charset="0"/>
            </a:endParaRPr>
          </a:p>
        </p:txBody>
      </p:sp>
      <p:pic>
        <p:nvPicPr>
          <p:cNvPr id="2063" name="Picture 15" descr="http://vishnu.edu.in/uploadnews/logo.jpg"/>
          <p:cNvPicPr>
            <a:picLocks noChangeAspect="1" noChangeArrowheads="1"/>
          </p:cNvPicPr>
          <p:nvPr/>
        </p:nvPicPr>
        <p:blipFill>
          <a:blip r:embed="rId2" cstate="print"/>
          <a:srcRect/>
          <a:stretch>
            <a:fillRect/>
          </a:stretch>
        </p:blipFill>
        <p:spPr bwMode="auto">
          <a:xfrm>
            <a:off x="7495917" y="0"/>
            <a:ext cx="1645124" cy="16002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Bookman Old Style" pitchFamily="18" charset="0"/>
            </a:endParaRPr>
          </a:p>
        </p:txBody>
      </p:sp>
      <p:sp>
        <p:nvSpPr>
          <p:cNvPr id="4" name="Rectangle 3"/>
          <p:cNvSpPr/>
          <p:nvPr/>
        </p:nvSpPr>
        <p:spPr>
          <a:xfrm>
            <a:off x="4795838" y="-37708"/>
            <a:ext cx="4343400" cy="209510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b="1"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Data Flow Diagrams/Algorithms/Techniques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
        <p:nvSpPr>
          <p:cNvPr id="5" name="Rectangle 4"/>
          <p:cNvSpPr/>
          <p:nvPr/>
        </p:nvSpPr>
        <p:spPr>
          <a:xfrm>
            <a:off x="0" y="0"/>
            <a:ext cx="4795838" cy="2057399"/>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solidFill>
                  <a:schemeClr val="tx1"/>
                </a:solidFill>
                <a:latin typeface="Bookman Old Style" pitchFamily="18" charset="0"/>
                <a:cs typeface="Times New Roman" panose="02020603050405020304" pitchFamily="18" charset="0"/>
              </a:rPr>
              <a:t>Abstract</a:t>
            </a:r>
          </a:p>
        </p:txBody>
      </p:sp>
      <p:sp>
        <p:nvSpPr>
          <p:cNvPr id="6" name="Content Placeholder 2"/>
          <p:cNvSpPr txBox="1">
            <a:spLocks/>
          </p:cNvSpPr>
          <p:nvPr/>
        </p:nvSpPr>
        <p:spPr bwMode="auto">
          <a:xfrm>
            <a:off x="19974" y="2438400"/>
            <a:ext cx="9119263" cy="29717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600" b="0" dirty="0">
                <a:latin typeface="Times New Roman" panose="02020603050405020304" pitchFamily="18" charset="0"/>
              </a:rPr>
              <a:t>In this project, Object Detection and Tracking System (ODTS) in combination with a well-known deep learning network, Faster Regional Convolution Neural Network (Faster R-CNN), for Object Detection and Conventional Object Tracking algorithm will be introduced and applied for automatic detection and monitoring of unexpected events on CCTVs. ODTS accepts a video frame in time as an input to obtain Bounding Box (</a:t>
            </a:r>
            <a:r>
              <a:rPr lang="en-US" sz="1600" b="0" dirty="0" err="1">
                <a:latin typeface="Times New Roman" panose="02020603050405020304" pitchFamily="18" charset="0"/>
              </a:rPr>
              <a:t>BBox</a:t>
            </a:r>
            <a:r>
              <a:rPr lang="en-US" sz="1600" b="0" dirty="0">
                <a:latin typeface="Times New Roman" panose="02020603050405020304" pitchFamily="18" charset="0"/>
              </a:rPr>
              <a:t>) results by Object Detection and compares the </a:t>
            </a:r>
            <a:r>
              <a:rPr lang="en-US" sz="1600" b="0" dirty="0" err="1">
                <a:latin typeface="Times New Roman" panose="02020603050405020304" pitchFamily="18" charset="0"/>
              </a:rPr>
              <a:t>BBoxes</a:t>
            </a:r>
            <a:r>
              <a:rPr lang="en-US" sz="1600" b="0" dirty="0">
                <a:latin typeface="Times New Roman" panose="02020603050405020304" pitchFamily="18" charset="0"/>
              </a:rPr>
              <a:t> of the current and previous video frames to assign a unique ID number to each moving and detected object. This system makes it possible to track a moving object in time, which is not usual to be achieved in conventional object detection frameworks. A deep learning model in ODTS was trained with a dataset of event images in tunnels to Average Precision (AP) values of 0.8479, 0.7161 and 0.9085 for target objects: Car, Person, and Fire, respectively. Then, based on trained deep learning model, the ODTS based CCTV Accident Detection System will be tested using four accident videos which including each accident. As a result, the system can detect all accidents within 10 seconds. The more important point is that the detection capacity of ODTS could be enhanced automatically without any changes in the program codes as the training dataset becomes rich.</a:t>
            </a:r>
          </a:p>
        </p:txBody>
      </p:sp>
    </p:spTree>
    <p:extLst>
      <p:ext uri="{BB962C8B-B14F-4D97-AF65-F5344CB8AC3E}">
        <p14:creationId xmlns:p14="http://schemas.microsoft.com/office/powerpoint/2010/main" val="2411378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795838" y="1"/>
            <a:ext cx="4343400" cy="1981200"/>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
        <p:nvSpPr>
          <p:cNvPr id="11" name="Rectangle 10"/>
          <p:cNvSpPr/>
          <p:nvPr/>
        </p:nvSpPr>
        <p:spPr>
          <a:xfrm>
            <a:off x="0" y="1"/>
            <a:ext cx="4795838" cy="1981200"/>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1335087"/>
            <a:ext cx="4795838" cy="646113"/>
          </a:xfrm>
          <a:prstGeom prst="rect">
            <a:avLst/>
          </a:prstGeom>
          <a:noFill/>
        </p:spPr>
        <p:txBody>
          <a:bodyPr>
            <a:spAutoFit/>
          </a:bodyPr>
          <a:lstStyle/>
          <a:p>
            <a:pPr fontAlgn="auto">
              <a:spcBef>
                <a:spcPts val="0"/>
              </a:spcBef>
              <a:spcAft>
                <a:spcPts val="0"/>
              </a:spcAft>
              <a:defRPr/>
            </a:pPr>
            <a:r>
              <a:rPr lang="en-US" sz="3600" b="1" dirty="0">
                <a:solidFill>
                  <a:schemeClr val="tx2">
                    <a:lumMod val="75000"/>
                  </a:schemeClr>
                </a:solidFill>
                <a:latin typeface="Bookman Old Style" pitchFamily="18" charset="0"/>
                <a:cs typeface="Times New Roman" pitchFamily="18" charset="0"/>
              </a:rPr>
              <a:t>Introduction</a:t>
            </a:r>
            <a:endParaRPr lang="en-GB" sz="3600" dirty="0">
              <a:solidFill>
                <a:schemeClr val="tx2">
                  <a:lumMod val="75000"/>
                </a:schemeClr>
              </a:solidFill>
              <a:latin typeface="Bookman Old Style" pitchFamily="18" charset="0"/>
              <a:cs typeface="Times New Roman" pitchFamily="18" charset="0"/>
            </a:endParaRPr>
          </a:p>
        </p:txBody>
      </p:sp>
      <p:sp>
        <p:nvSpPr>
          <p:cNvPr id="3" name="Content Placeholder 2"/>
          <p:cNvSpPr>
            <a:spLocks noGrp="1"/>
          </p:cNvSpPr>
          <p:nvPr>
            <p:ph idx="1"/>
          </p:nvPr>
        </p:nvSpPr>
        <p:spPr>
          <a:xfrm>
            <a:off x="152400" y="2209800"/>
            <a:ext cx="8542930" cy="4343400"/>
          </a:xfrm>
        </p:spPr>
        <p:txBody>
          <a:bodyPr/>
          <a:lstStyle/>
          <a:p>
            <a:pPr marL="0" indent="0" algn="just">
              <a:buNone/>
            </a:pPr>
            <a:r>
              <a:rPr lang="en-US" sz="1800" dirty="0">
                <a:solidFill>
                  <a:srgbClr val="000000"/>
                </a:solidFill>
                <a:latin typeface="Times New Roman" panose="02020603050405020304" pitchFamily="18" charset="0"/>
              </a:rPr>
              <a:t>Object detection technology has been successfully applied to find the size and position of target objects appearing on images or videos. Several applications have appeared mainly in self-driving of vehicles, CCTV monitoring and security system, cancer detection, etc. Object tracking is another area in image processing to be achieved by unique identification and tracking the positions of identified objects over time. However, to track objects, it is necessary to define object class and position first in a firstly given static image by object detection. Therefore, it can be said that the results of object tracking should be deeply dependent on the performance of the object detection involved. This object tracking technology has been successfully utilized for </a:t>
            </a:r>
          </a:p>
          <a:p>
            <a:pPr marL="0" indent="0" algn="just">
              <a:buNone/>
            </a:pPr>
            <a:r>
              <a:rPr lang="en-US" sz="1800" dirty="0">
                <a:solidFill>
                  <a:srgbClr val="000000"/>
                </a:solidFill>
                <a:latin typeface="Times New Roman" panose="02020603050405020304" pitchFamily="18" charset="0"/>
              </a:rPr>
              <a:t>tracing of targeted pedestrian and the </a:t>
            </a:r>
          </a:p>
          <a:p>
            <a:pPr marL="0" indent="0" algn="just">
              <a:buNone/>
            </a:pPr>
            <a:r>
              <a:rPr lang="en-US" sz="1800" dirty="0">
                <a:solidFill>
                  <a:srgbClr val="000000"/>
                </a:solidFill>
                <a:latin typeface="Times New Roman" panose="02020603050405020304" pitchFamily="18" charset="0"/>
              </a:rPr>
              <a:t>moving vehicle, accident monitoring in </a:t>
            </a:r>
          </a:p>
          <a:p>
            <a:pPr marL="0" indent="0" algn="just">
              <a:buNone/>
            </a:pPr>
            <a:r>
              <a:rPr lang="en-US" sz="1800" dirty="0">
                <a:solidFill>
                  <a:srgbClr val="000000"/>
                </a:solidFill>
                <a:latin typeface="Times New Roman" panose="02020603050405020304" pitchFamily="18" charset="0"/>
              </a:rPr>
              <a:t>Traffic camera, criminal and security</a:t>
            </a:r>
          </a:p>
          <a:p>
            <a:pPr marL="0" indent="0" algn="just">
              <a:buNone/>
            </a:pPr>
            <a:r>
              <a:rPr lang="en-US" sz="1800" dirty="0">
                <a:solidFill>
                  <a:srgbClr val="000000"/>
                </a:solidFill>
                <a:latin typeface="Times New Roman" panose="02020603050405020304" pitchFamily="18" charset="0"/>
              </a:rPr>
              <a:t>monitoring in the certain local area of </a:t>
            </a:r>
          </a:p>
          <a:p>
            <a:pPr marL="0" indent="0" algn="just">
              <a:buNone/>
            </a:pPr>
            <a:r>
              <a:rPr lang="en-US" sz="1800" dirty="0">
                <a:solidFill>
                  <a:srgbClr val="000000"/>
                </a:solidFill>
                <a:latin typeface="Times New Roman" panose="02020603050405020304" pitchFamily="18" charset="0"/>
              </a:rPr>
              <a:t>concern, etc.</a:t>
            </a:r>
          </a:p>
          <a:p>
            <a:pPr marL="0" indent="0" algn="just">
              <a:buNone/>
            </a:pPr>
            <a:endParaRPr lang="en-US" sz="1800" dirty="0">
              <a:solidFill>
                <a:srgbClr val="000000"/>
              </a:solidFill>
              <a:latin typeface="Times New Roman" panose="02020603050405020304" pitchFamily="18" charset="0"/>
            </a:endParaRPr>
          </a:p>
          <a:p>
            <a:pPr marL="0" indent="0" algn="just">
              <a:buNone/>
            </a:pPr>
            <a:endParaRPr lang="en-US" sz="1800" dirty="0">
              <a:latin typeface="Bookman Old Style" pitchFamily="18" charset="0"/>
              <a:cs typeface="Times New Roman" pitchFamily="18" charset="0"/>
            </a:endParaRPr>
          </a:p>
        </p:txBody>
      </p:sp>
      <p:sp>
        <p:nvSpPr>
          <p:cNvPr id="6" name="Rectangle 5">
            <a:extLst>
              <a:ext uri="{FF2B5EF4-FFF2-40B4-BE49-F238E27FC236}">
                <a16:creationId xmlns:a16="http://schemas.microsoft.com/office/drawing/2014/main" id="{AAF42694-2979-47CC-9373-C74B034B8173}"/>
              </a:ext>
            </a:extLst>
          </p:cNvPr>
          <p:cNvSpPr/>
          <p:nvPr/>
        </p:nvSpPr>
        <p:spPr>
          <a:xfrm>
            <a:off x="4795838" y="0"/>
            <a:ext cx="4343400" cy="1981200"/>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3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300" b="1"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3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300" dirty="0">
                <a:solidFill>
                  <a:schemeClr val="tx1">
                    <a:lumMod val="95000"/>
                    <a:lumOff val="5000"/>
                  </a:schemeClr>
                </a:solidFill>
                <a:latin typeface="Bookman Old Style" pitchFamily="18" charset="0"/>
              </a:rPr>
              <a:t>Proposed</a:t>
            </a:r>
            <a:r>
              <a:rPr lang="en-US" sz="1300" b="1" dirty="0">
                <a:solidFill>
                  <a:schemeClr val="tx1">
                    <a:lumMod val="95000"/>
                    <a:lumOff val="5000"/>
                  </a:schemeClr>
                </a:solidFill>
                <a:latin typeface="Bookman Old Style" pitchFamily="18" charset="0"/>
              </a:rPr>
              <a:t> </a:t>
            </a:r>
            <a:r>
              <a:rPr lang="en-US" sz="13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3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3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300" dirty="0">
                <a:solidFill>
                  <a:schemeClr val="tx1">
                    <a:lumMod val="95000"/>
                    <a:lumOff val="5000"/>
                  </a:schemeClr>
                </a:solidFill>
                <a:latin typeface="Bookman Old Style" pitchFamily="18" charset="0"/>
              </a:rPr>
              <a:t>Data Flow Diagrams/Algorithms/Techniques</a:t>
            </a:r>
          </a:p>
          <a:p>
            <a:pPr fontAlgn="auto">
              <a:spcBef>
                <a:spcPts val="0"/>
              </a:spcBef>
              <a:spcAft>
                <a:spcPts val="0"/>
              </a:spcAft>
              <a:defRPr/>
            </a:pPr>
            <a:r>
              <a:rPr lang="en-US" sz="1300" dirty="0">
                <a:solidFill>
                  <a:schemeClr val="tx1">
                    <a:lumMod val="95000"/>
                    <a:lumOff val="5000"/>
                  </a:schemeClr>
                </a:solidFill>
                <a:latin typeface="Bookman Old Style" pitchFamily="18" charset="0"/>
              </a:rPr>
              <a:t>References</a:t>
            </a:r>
          </a:p>
        </p:txBody>
      </p:sp>
      <p:pic>
        <p:nvPicPr>
          <p:cNvPr id="4" name="Picture 3">
            <a:extLst>
              <a:ext uri="{FF2B5EF4-FFF2-40B4-BE49-F238E27FC236}">
                <a16:creationId xmlns:a16="http://schemas.microsoft.com/office/drawing/2014/main" id="{CC6A4FF9-4D39-4DF1-B244-7518BEEC59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0" y="4506452"/>
            <a:ext cx="4419600" cy="23515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0"/>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152400" y="1278562"/>
            <a:ext cx="4795838" cy="646331"/>
          </a:xfrm>
          <a:prstGeom prst="rect">
            <a:avLst/>
          </a:prstGeom>
          <a:noFill/>
        </p:spPr>
        <p:txBody>
          <a:bodyPr>
            <a:spAutoFit/>
          </a:bodyPr>
          <a:lstStyle/>
          <a:p>
            <a:pPr fontAlgn="auto">
              <a:spcBef>
                <a:spcPts val="0"/>
              </a:spcBef>
              <a:spcAft>
                <a:spcPts val="0"/>
              </a:spcAft>
              <a:defRPr/>
            </a:pPr>
            <a:r>
              <a:rPr lang="en-US" sz="3600" b="1" dirty="0">
                <a:solidFill>
                  <a:schemeClr val="tx2">
                    <a:lumMod val="75000"/>
                  </a:schemeClr>
                </a:solidFill>
                <a:latin typeface="Bookman Old Style" pitchFamily="18" charset="0"/>
                <a:cs typeface="Times New Roman" pitchFamily="18" charset="0"/>
              </a:rPr>
              <a:t>Existing System</a:t>
            </a:r>
            <a:endParaRPr lang="en-GB" sz="3600" dirty="0">
              <a:solidFill>
                <a:schemeClr val="tx2">
                  <a:lumMod val="75000"/>
                </a:schemeClr>
              </a:solidFill>
              <a:latin typeface="Bookman Old Style" pitchFamily="18" charset="0"/>
              <a:cs typeface="Times New Roman" pitchFamily="18" charset="0"/>
            </a:endParaRPr>
          </a:p>
        </p:txBody>
      </p:sp>
      <p:sp>
        <p:nvSpPr>
          <p:cNvPr id="4104" name="TextBox 4"/>
          <p:cNvSpPr txBox="1">
            <a:spLocks noChangeArrowheads="1"/>
          </p:cNvSpPr>
          <p:nvPr/>
        </p:nvSpPr>
        <p:spPr bwMode="auto">
          <a:xfrm>
            <a:off x="295406" y="2307372"/>
            <a:ext cx="8382000"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329437" y="2593152"/>
            <a:ext cx="8437634" cy="4414897"/>
          </a:xfrm>
        </p:spPr>
        <p:txBody>
          <a:bodyPr/>
          <a:lstStyle/>
          <a:p>
            <a:pPr marL="0" indent="0" algn="just">
              <a:buNone/>
            </a:pPr>
            <a:r>
              <a:rPr lang="en-US" sz="1600" b="0" dirty="0">
                <a:latin typeface="Times New Roman" panose="02020603050405020304" pitchFamily="18" charset="0"/>
              </a:rPr>
              <a:t>In the existing system detects vehicle object and classifies the type of vehicle by Convolutional Neural Network (CNN). The vehicle object tracking algorithm tracks the vehicle object by changing the tracking center point according to the position of the recognized vehicle object on the image. Then, the monitor shows a localized image like a bird’s viewpoint with the visualized vehicle objects, and the system calculates the distance between the driving car and the visualized vehicle objects.</a:t>
            </a:r>
          </a:p>
          <a:p>
            <a:pPr marL="0" indent="0" algn="just">
              <a:buNone/>
            </a:pPr>
            <a:endParaRPr lang="en-US" sz="1600" b="0" dirty="0">
              <a:latin typeface="Times New Roman" panose="02020603050405020304" pitchFamily="18" charset="0"/>
            </a:endParaRPr>
          </a:p>
          <a:p>
            <a:pPr marL="0" indent="0" algn="just">
              <a:buNone/>
            </a:pPr>
            <a:r>
              <a:rPr lang="en-IN" sz="1600" b="1" dirty="0">
                <a:latin typeface="Arial" panose="020B0604020202020204" pitchFamily="34" charset="0"/>
                <a:cs typeface="Arial" panose="020B0604020202020204" pitchFamily="34" charset="0"/>
              </a:rPr>
              <a:t>DISADVANTAGES OF EXISTING SYSTEM:</a:t>
            </a:r>
          </a:p>
          <a:p>
            <a:pPr algn="just"/>
            <a:r>
              <a:rPr lang="en-US" sz="1600" b="0" dirty="0">
                <a:latin typeface="Times New Roman" panose="02020603050405020304" pitchFamily="18" charset="0"/>
              </a:rPr>
              <a:t>This system extracts the feature from the satellite image through CNN using the satellite image as an input value and performs the binary classification with SVM to detect the vehicle </a:t>
            </a:r>
            <a:r>
              <a:rPr lang="en-US" sz="1600" b="0" dirty="0" err="1">
                <a:latin typeface="Times New Roman" panose="02020603050405020304" pitchFamily="18" charset="0"/>
              </a:rPr>
              <a:t>BBox</a:t>
            </a:r>
            <a:r>
              <a:rPr lang="en-US" sz="1600" b="0" dirty="0">
                <a:latin typeface="Times New Roman" panose="02020603050405020304" pitchFamily="18" charset="0"/>
              </a:rPr>
              <a:t>.</a:t>
            </a:r>
          </a:p>
          <a:p>
            <a:pPr algn="just"/>
            <a:r>
              <a:rPr lang="en-US" sz="1600" b="0" dirty="0">
                <a:latin typeface="Times New Roman" panose="02020603050405020304" pitchFamily="18" charset="0"/>
              </a:rPr>
              <a:t>This system utilizes </a:t>
            </a:r>
            <a:r>
              <a:rPr lang="en-US" sz="1600" b="0" dirty="0" err="1">
                <a:latin typeface="Times New Roman" panose="02020603050405020304" pitchFamily="18" charset="0"/>
              </a:rPr>
              <a:t>BBox</a:t>
            </a:r>
            <a:r>
              <a:rPr lang="en-US" sz="1600" b="0" dirty="0">
                <a:latin typeface="Times New Roman" panose="02020603050405020304" pitchFamily="18" charset="0"/>
              </a:rPr>
              <a:t> obtained by object detection based on videos or images. The algorithm applied to the system was compared with the Gaussian Mixture Model.</a:t>
            </a:r>
          </a:p>
          <a:p>
            <a:pPr marL="0" indent="0" algn="just">
              <a:buNone/>
            </a:pPr>
            <a:r>
              <a:rPr lang="en-IN" sz="1600" b="1" dirty="0">
                <a:latin typeface="Times New Roman" panose="02020603050405020304" pitchFamily="18" charset="0"/>
              </a:rPr>
              <a:t>Algorithm</a:t>
            </a:r>
            <a:r>
              <a:rPr lang="en-IN" sz="1600" b="0" dirty="0">
                <a:latin typeface="Times New Roman" panose="02020603050405020304" pitchFamily="18" charset="0"/>
              </a:rPr>
              <a:t>: Support Vector Machine (SVM),Convolutional Neural Network(CNN), Gaussian Mixture Model.</a:t>
            </a:r>
            <a:endParaRPr lang="en-IN" sz="1600" b="1" dirty="0">
              <a:latin typeface="Times New Roman" panose="02020603050405020304" pitchFamily="18" charset="0"/>
            </a:endParaRPr>
          </a:p>
          <a:p>
            <a:endParaRPr lang="en-US" sz="2000" dirty="0">
              <a:latin typeface="Bookman Old Style" panose="02050604050505020204" pitchFamily="18" charset="0"/>
            </a:endParaRPr>
          </a:p>
        </p:txBody>
      </p:sp>
      <p:sp>
        <p:nvSpPr>
          <p:cNvPr id="13" name="Rectangle 12"/>
          <p:cNvSpPr/>
          <p:nvPr/>
        </p:nvSpPr>
        <p:spPr>
          <a:xfrm>
            <a:off x="4795838" y="-14785"/>
            <a:ext cx="4343400" cy="2010771"/>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Existing</a:t>
            </a:r>
            <a:r>
              <a:rPr lang="en-US" sz="1400" dirty="0">
                <a:solidFill>
                  <a:schemeClr val="tx1">
                    <a:lumMod val="95000"/>
                    <a:lumOff val="5000"/>
                  </a:schemeClr>
                </a:solidFill>
                <a:latin typeface="Bookman Old Style" pitchFamily="18" charset="0"/>
              </a:rPr>
              <a:t> </a:t>
            </a:r>
            <a:r>
              <a:rPr lang="en-US" sz="1400" b="1"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951"/>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1364440"/>
            <a:ext cx="4795838" cy="646331"/>
          </a:xfrm>
          <a:prstGeom prst="rect">
            <a:avLst/>
          </a:prstGeom>
          <a:noFill/>
        </p:spPr>
        <p:txBody>
          <a:bodyPr>
            <a:spAutoFit/>
          </a:bodyPr>
          <a:lstStyle/>
          <a:p>
            <a:pPr fontAlgn="auto">
              <a:spcBef>
                <a:spcPts val="0"/>
              </a:spcBef>
              <a:spcAft>
                <a:spcPts val="0"/>
              </a:spcAft>
              <a:defRPr/>
            </a:pPr>
            <a:r>
              <a:rPr lang="en-GB" sz="3600" b="1" dirty="0">
                <a:solidFill>
                  <a:schemeClr val="tx2">
                    <a:lumMod val="75000"/>
                  </a:schemeClr>
                </a:solidFill>
                <a:latin typeface="Bookman Old Style" pitchFamily="18" charset="0"/>
                <a:cs typeface="Times New Roman" pitchFamily="18" charset="0"/>
              </a:rPr>
              <a:t>Proposed System</a:t>
            </a:r>
          </a:p>
        </p:txBody>
      </p:sp>
      <p:sp>
        <p:nvSpPr>
          <p:cNvPr id="4104" name="TextBox 4"/>
          <p:cNvSpPr txBox="1">
            <a:spLocks noChangeArrowheads="1"/>
          </p:cNvSpPr>
          <p:nvPr/>
        </p:nvSpPr>
        <p:spPr bwMode="auto">
          <a:xfrm>
            <a:off x="295406" y="2307372"/>
            <a:ext cx="8382000"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114300" y="2297672"/>
            <a:ext cx="8915400" cy="4383450"/>
          </a:xfrm>
        </p:spPr>
        <p:txBody>
          <a:bodyPr/>
          <a:lstStyle/>
          <a:p>
            <a:pPr marL="0" indent="0" algn="just">
              <a:buNone/>
            </a:pPr>
            <a:r>
              <a:rPr lang="en-US" sz="1600" dirty="0">
                <a:latin typeface="Times New Roman" panose="02020603050405020304" pitchFamily="18" charset="0"/>
              </a:rPr>
              <a:t>In the proposed system, the attempt is made to  generate an object detection &amp; tracking system (ODTS) with yolo, that can obtain moving information of target objects with names by combining object tracking algorithm with the deep learning-based object detection process. It is assumed that ODTS has been trained enough to perform object detection properly on a given image frame. ODTS receives selected frames of video at specified time interval c and gains sets of coordinates, n </a:t>
            </a:r>
            <a:r>
              <a:rPr lang="en-US" sz="1600" dirty="0" err="1">
                <a:latin typeface="Times New Roman" panose="02020603050405020304" pitchFamily="18" charset="0"/>
              </a:rPr>
              <a:t>BBoxs</a:t>
            </a:r>
            <a:r>
              <a:rPr lang="en-US" sz="1600" dirty="0">
                <a:latin typeface="Times New Roman" panose="02020603050405020304" pitchFamily="18" charset="0"/>
              </a:rPr>
              <a:t> are detected. </a:t>
            </a:r>
            <a:r>
              <a:rPr lang="en-US" sz="1600" dirty="0" err="1">
                <a:latin typeface="Times New Roman" panose="02020603050405020304" pitchFamily="18" charset="0"/>
              </a:rPr>
              <a:t>BBoxT</a:t>
            </a:r>
            <a:r>
              <a:rPr lang="en-US" sz="1600" dirty="0">
                <a:latin typeface="Times New Roman" panose="02020603050405020304" pitchFamily="18" charset="0"/>
              </a:rPr>
              <a:t> of objects on the given image frame at the time T, from the trained object detection system. The corresponding type or class </a:t>
            </a:r>
            <a:r>
              <a:rPr lang="en-US" sz="1600" dirty="0" err="1">
                <a:latin typeface="Times New Roman" panose="02020603050405020304" pitchFamily="18" charset="0"/>
              </a:rPr>
              <a:t>ClassT</a:t>
            </a:r>
            <a:r>
              <a:rPr lang="en-US" sz="1600" dirty="0">
                <a:latin typeface="Times New Roman" panose="02020603050405020304" pitchFamily="18" charset="0"/>
              </a:rPr>
              <a:t> of each detected object </a:t>
            </a:r>
            <a:r>
              <a:rPr lang="en-US" sz="1600" dirty="0" err="1">
                <a:latin typeface="Times New Roman" panose="02020603050405020304" pitchFamily="18" charset="0"/>
              </a:rPr>
              <a:t>BBoxT</a:t>
            </a:r>
            <a:r>
              <a:rPr lang="en-US" sz="1600" dirty="0">
                <a:latin typeface="Times New Roman" panose="02020603050405020304" pitchFamily="18" charset="0"/>
              </a:rPr>
              <a:t> is simultaneously classified by the object detection module.</a:t>
            </a:r>
          </a:p>
          <a:p>
            <a:pPr marL="0" indent="0" algn="just">
              <a:buNone/>
            </a:pPr>
            <a:endParaRPr lang="en" sz="1600" dirty="0">
              <a:latin typeface="Arial" panose="020B0604020202020204" pitchFamily="34" charset="0"/>
              <a:cs typeface="Arial" panose="020B0604020202020204" pitchFamily="34" charset="0"/>
            </a:endParaRPr>
          </a:p>
          <a:p>
            <a:pPr marL="0" indent="0" algn="just">
              <a:buNone/>
            </a:pPr>
            <a:r>
              <a:rPr lang="en-IN" sz="1600" b="1" dirty="0">
                <a:latin typeface="Arial" panose="020B0604020202020204" pitchFamily="34" charset="0"/>
                <a:cs typeface="Arial" panose="020B0604020202020204" pitchFamily="34" charset="0"/>
              </a:rPr>
              <a:t>ADVANTAGES OF PROPOSED SYSTEM:</a:t>
            </a:r>
          </a:p>
          <a:p>
            <a:r>
              <a:rPr lang="en-US" sz="1600" b="0" dirty="0">
                <a:latin typeface="Times New Roman" panose="02020603050405020304" pitchFamily="18" charset="0"/>
              </a:rPr>
              <a:t>A deep learning model of Faster R-CNN was used for training with yolo object detection model.</a:t>
            </a:r>
          </a:p>
          <a:p>
            <a:r>
              <a:rPr lang="en-US" sz="1600" b="0" dirty="0">
                <a:latin typeface="Times New Roman" panose="02020603050405020304" pitchFamily="18" charset="0"/>
              </a:rPr>
              <a:t>This object tracking module was composed by introducing an object tracking model called yolo.</a:t>
            </a:r>
          </a:p>
          <a:p>
            <a:pPr marL="0" indent="0" algn="just">
              <a:buNone/>
            </a:pPr>
            <a:r>
              <a:rPr lang="en-IN" sz="1600" b="1" dirty="0">
                <a:latin typeface="Times New Roman" panose="02020603050405020304" pitchFamily="18" charset="0"/>
              </a:rPr>
              <a:t> 	Algorithm</a:t>
            </a:r>
            <a:r>
              <a:rPr lang="en-IN" sz="1600" b="0" dirty="0">
                <a:latin typeface="Times New Roman" panose="02020603050405020304" pitchFamily="18" charset="0"/>
              </a:rPr>
              <a:t>: R-CNN(Regional Convolution Neural Network),YOLO Model</a:t>
            </a:r>
            <a:r>
              <a:rPr lang="en-US" sz="1600" b="0" dirty="0">
                <a:latin typeface="Times New Roman" panose="02020603050405020304" pitchFamily="18" charset="0"/>
              </a:rPr>
              <a:t>.</a:t>
            </a:r>
          </a:p>
          <a:p>
            <a:pPr algn="just"/>
            <a:r>
              <a:rPr lang="en-US" sz="1600" dirty="0">
                <a:latin typeface="Times New Roman" panose="02020603050405020304" pitchFamily="18" charset="0"/>
              </a:rPr>
              <a:t>We can use this system and take live CCTV surveillance as input to know the occurrence of any accidents in remote highways and tunnels.</a:t>
            </a:r>
          </a:p>
          <a:p>
            <a:pPr algn="just"/>
            <a:r>
              <a:rPr lang="en-US" sz="1600" dirty="0">
                <a:latin typeface="Times New Roman" panose="02020603050405020304" pitchFamily="18" charset="0"/>
              </a:rPr>
              <a:t>The system can also be used to quickly check the surveillance footage for any accidents within minutes.</a:t>
            </a:r>
          </a:p>
          <a:p>
            <a:pPr algn="just"/>
            <a:endParaRPr lang="en" sz="1600" dirty="0">
              <a:latin typeface="Times New Roman" panose="02020603050405020304" pitchFamily="18" charset="0"/>
            </a:endParaRPr>
          </a:p>
          <a:p>
            <a:endParaRPr lang="en-IN" sz="1600" b="0" dirty="0">
              <a:latin typeface="Times New Roman" panose="02020603050405020304" pitchFamily="18" charset="0"/>
            </a:endParaRPr>
          </a:p>
        </p:txBody>
      </p:sp>
      <p:sp>
        <p:nvSpPr>
          <p:cNvPr id="13" name="Rectangle 12"/>
          <p:cNvSpPr/>
          <p:nvPr/>
        </p:nvSpPr>
        <p:spPr>
          <a:xfrm>
            <a:off x="4800600" y="5862"/>
            <a:ext cx="4343400" cy="1919785"/>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Proposed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extLst>
      <p:ext uri="{BB962C8B-B14F-4D97-AF65-F5344CB8AC3E}">
        <p14:creationId xmlns:p14="http://schemas.microsoft.com/office/powerpoint/2010/main" val="3262568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951"/>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990600"/>
            <a:ext cx="4795838" cy="954107"/>
          </a:xfrm>
          <a:prstGeom prst="rect">
            <a:avLst/>
          </a:prstGeom>
          <a:noFill/>
        </p:spPr>
        <p:txBody>
          <a:bodyPr>
            <a:spAutoFit/>
          </a:bodyPr>
          <a:lstStyle/>
          <a:p>
            <a:pPr fontAlgn="auto">
              <a:spcBef>
                <a:spcPts val="0"/>
              </a:spcBef>
              <a:spcAft>
                <a:spcPts val="0"/>
              </a:spcAft>
              <a:defRPr/>
            </a:pPr>
            <a:r>
              <a:rPr lang="en-GB" sz="2800" b="1" dirty="0">
                <a:solidFill>
                  <a:schemeClr val="tx2">
                    <a:lumMod val="75000"/>
                  </a:schemeClr>
                </a:solidFill>
                <a:latin typeface="Bookman Old Style" pitchFamily="18" charset="0"/>
                <a:cs typeface="Times New Roman" pitchFamily="18" charset="0"/>
              </a:rPr>
              <a:t>Software/Hardware Requirements</a:t>
            </a:r>
          </a:p>
        </p:txBody>
      </p:sp>
      <p:sp>
        <p:nvSpPr>
          <p:cNvPr id="4103" name="TextBox 2"/>
          <p:cNvSpPr txBox="1">
            <a:spLocks noChangeArrowheads="1"/>
          </p:cNvSpPr>
          <p:nvPr/>
        </p:nvSpPr>
        <p:spPr bwMode="auto">
          <a:xfrm>
            <a:off x="14288" y="6553200"/>
            <a:ext cx="716863" cy="338554"/>
          </a:xfrm>
          <a:prstGeom prst="rect">
            <a:avLst/>
          </a:prstGeom>
          <a:noFill/>
          <a:ln w="9525">
            <a:noFill/>
            <a:miter lim="800000"/>
            <a:headEnd/>
            <a:tailEnd/>
          </a:ln>
        </p:spPr>
        <p:txBody>
          <a:bodyPr wrap="none">
            <a:spAutoFit/>
          </a:bodyPr>
          <a:lstStyle/>
          <a:p>
            <a:r>
              <a:rPr lang="en-US" sz="1600" b="1">
                <a:solidFill>
                  <a:schemeClr val="bg1"/>
                </a:solidFill>
                <a:latin typeface="Bookman Old Style" pitchFamily="18" charset="0"/>
                <a:cs typeface="Times New Roman" pitchFamily="18" charset="0"/>
              </a:rPr>
              <a:t>2/10</a:t>
            </a:r>
          </a:p>
        </p:txBody>
      </p:sp>
      <p:sp>
        <p:nvSpPr>
          <p:cNvPr id="3" name="Content Placeholder 2"/>
          <p:cNvSpPr>
            <a:spLocks noGrp="1"/>
          </p:cNvSpPr>
          <p:nvPr>
            <p:ph idx="1"/>
          </p:nvPr>
        </p:nvSpPr>
        <p:spPr>
          <a:xfrm>
            <a:off x="372719" y="2540266"/>
            <a:ext cx="8467594" cy="4643497"/>
          </a:xfrm>
        </p:spPr>
        <p:txBody>
          <a:bodyPr/>
          <a:lstStyle/>
          <a:p>
            <a:pPr marL="0" indent="0" algn="just">
              <a:buNone/>
            </a:pPr>
            <a:r>
              <a:rPr lang="en-IN" sz="1800" b="1" dirty="0">
                <a:latin typeface="Times New Roman" panose="02020603050405020304" pitchFamily="18" charset="0"/>
              </a:rPr>
              <a:t>HARDWARE REQUIREMENTS:</a:t>
            </a:r>
            <a:endParaRPr lang="en" sz="1800" b="1" dirty="0">
              <a:latin typeface="Times New Roman" panose="02020603050405020304" pitchFamily="18" charset="0"/>
            </a:endParaRPr>
          </a:p>
          <a:p>
            <a:pPr marL="0" indent="0" algn="just">
              <a:buNone/>
            </a:pPr>
            <a:r>
              <a:rPr lang="en-IN" sz="1800" b="0" dirty="0">
                <a:latin typeface="Times New Roman" panose="02020603050405020304" pitchFamily="18" charset="0"/>
              </a:rPr>
              <a:t>System : 	Intel Core i5, i</a:t>
            </a:r>
            <a:r>
              <a:rPr lang="en-IN" sz="1800" dirty="0">
                <a:latin typeface="Times New Roman" panose="02020603050405020304" pitchFamily="18" charset="0"/>
              </a:rPr>
              <a:t>7</a:t>
            </a:r>
            <a:r>
              <a:rPr lang="en-IN" sz="1800" b="0" dirty="0">
                <a:latin typeface="Times New Roman" panose="02020603050405020304" pitchFamily="18" charset="0"/>
              </a:rPr>
              <a:t>.</a:t>
            </a:r>
          </a:p>
          <a:p>
            <a:pPr marL="0" indent="0" algn="just">
              <a:buNone/>
            </a:pPr>
            <a:r>
              <a:rPr lang="en-IN" sz="1800" b="0" dirty="0">
                <a:latin typeface="Times New Roman" panose="02020603050405020304" pitchFamily="18" charset="0"/>
              </a:rPr>
              <a:t>Hard Disk : 1 TB</a:t>
            </a:r>
          </a:p>
          <a:p>
            <a:pPr marL="0" indent="0" algn="just">
              <a:buNone/>
            </a:pPr>
            <a:r>
              <a:rPr lang="en-IN" sz="1800" b="0" dirty="0">
                <a:latin typeface="Times New Roman" panose="02020603050405020304" pitchFamily="18" charset="0"/>
              </a:rPr>
              <a:t>Input Devices : Keyboard, Mouse</a:t>
            </a:r>
          </a:p>
          <a:p>
            <a:pPr marL="0" indent="0" algn="just">
              <a:buNone/>
            </a:pPr>
            <a:r>
              <a:rPr lang="en-IN" sz="1800" b="0" dirty="0">
                <a:latin typeface="Times New Roman" panose="02020603050405020304" pitchFamily="18" charset="0"/>
              </a:rPr>
              <a:t>Ram : 8GB, 16 GB.</a:t>
            </a:r>
          </a:p>
          <a:p>
            <a:pPr marL="0" indent="0" algn="just">
              <a:buNone/>
            </a:pPr>
            <a:endParaRPr lang="en-IN" sz="1800" b="1" dirty="0">
              <a:latin typeface="Times New Roman" panose="02020603050405020304" pitchFamily="18" charset="0"/>
            </a:endParaRPr>
          </a:p>
          <a:p>
            <a:pPr marL="0" indent="0" algn="just">
              <a:buNone/>
            </a:pPr>
            <a:r>
              <a:rPr lang="en-IN" sz="1800" b="1" dirty="0">
                <a:latin typeface="Times New Roman" panose="02020603050405020304" pitchFamily="18" charset="0"/>
              </a:rPr>
              <a:t>SOFTWARE REQUIREMENTS:</a:t>
            </a:r>
            <a:endParaRPr lang="en" sz="1800" b="1" dirty="0">
              <a:latin typeface="Times New Roman" panose="02020603050405020304" pitchFamily="18" charset="0"/>
            </a:endParaRPr>
          </a:p>
          <a:p>
            <a:pPr marL="0" indent="0" algn="just">
              <a:buNone/>
            </a:pPr>
            <a:r>
              <a:rPr lang="en-IN" sz="1800" b="0" dirty="0">
                <a:latin typeface="Times New Roman" panose="02020603050405020304" pitchFamily="18" charset="0"/>
              </a:rPr>
              <a:t>Operating system : 	Windows 10</a:t>
            </a:r>
          </a:p>
          <a:p>
            <a:pPr marL="0" indent="0" algn="just">
              <a:buNone/>
            </a:pPr>
            <a:r>
              <a:rPr lang="en-IN" sz="1800" b="0" dirty="0">
                <a:latin typeface="Times New Roman" panose="02020603050405020304" pitchFamily="18" charset="0"/>
              </a:rPr>
              <a:t>Coding Language</a:t>
            </a:r>
            <a:r>
              <a:rPr lang="en-IN" sz="1800" dirty="0">
                <a:latin typeface="Times New Roman" panose="02020603050405020304" pitchFamily="18" charset="0"/>
              </a:rPr>
              <a:t> </a:t>
            </a:r>
            <a:r>
              <a:rPr lang="en-IN" sz="1800" b="0" dirty="0">
                <a:latin typeface="Times New Roman" panose="02020603050405020304" pitchFamily="18" charset="0"/>
              </a:rPr>
              <a:t>:	Python</a:t>
            </a:r>
          </a:p>
          <a:p>
            <a:pPr marL="0" indent="0" algn="just">
              <a:buNone/>
            </a:pPr>
            <a:r>
              <a:rPr lang="en-IN" sz="1800" b="0" dirty="0">
                <a:latin typeface="Times New Roman" panose="02020603050405020304" pitchFamily="18" charset="0"/>
              </a:rPr>
              <a:t>Tool : PyCharm / Visual Studio Code</a:t>
            </a:r>
          </a:p>
          <a:p>
            <a:pPr marL="0" indent="0" algn="just">
              <a:buNone/>
            </a:pPr>
            <a:r>
              <a:rPr lang="en-IN" sz="1800" b="0" dirty="0">
                <a:latin typeface="Times New Roman" panose="02020603050405020304" pitchFamily="18" charset="0"/>
              </a:rPr>
              <a:t>Database	: SQLite</a:t>
            </a:r>
          </a:p>
          <a:p>
            <a:pPr>
              <a:buNone/>
            </a:pPr>
            <a:endParaRPr lang="en-US" dirty="0">
              <a:latin typeface="Bookman Old Style" pitchFamily="18" charset="0"/>
            </a:endParaRPr>
          </a:p>
        </p:txBody>
      </p:sp>
      <p:sp>
        <p:nvSpPr>
          <p:cNvPr id="13" name="Rectangle 12"/>
          <p:cNvSpPr/>
          <p:nvPr/>
        </p:nvSpPr>
        <p:spPr>
          <a:xfrm>
            <a:off x="4795838" y="-14785"/>
            <a:ext cx="4343400" cy="2010771"/>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
        <p:nvSpPr>
          <p:cNvPr id="1029" name="AutoShape 5" descr="Image result for pH senso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1" name="AutoShape 7" descr="Image result for pH senso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65DE5779-49DF-49EC-A635-D09A96FE44F2}"/>
              </a:ext>
            </a:extLst>
          </p:cNvPr>
          <p:cNvSpPr/>
          <p:nvPr/>
        </p:nvSpPr>
        <p:spPr>
          <a:xfrm>
            <a:off x="4795838" y="0"/>
            <a:ext cx="4343400" cy="1995986"/>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Data Flow Diagrams/Algorithms/Techniques</a:t>
            </a:r>
            <a:endParaRPr lang="en-US" sz="1400" b="1" dirty="0">
              <a:solidFill>
                <a:schemeClr val="tx1">
                  <a:lumMod val="95000"/>
                  <a:lumOff val="5000"/>
                </a:schemeClr>
              </a:solidFill>
              <a:latin typeface="Bookman Old Style" pitchFamily="18" charset="0"/>
            </a:endParaRP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extLst>
      <p:ext uri="{BB962C8B-B14F-4D97-AF65-F5344CB8AC3E}">
        <p14:creationId xmlns:p14="http://schemas.microsoft.com/office/powerpoint/2010/main" val="1888603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AAEB48-13E9-4DF9-813F-2740A7FA9126}"/>
              </a:ext>
            </a:extLst>
          </p:cNvPr>
          <p:cNvSpPr>
            <a:spLocks noGrp="1"/>
          </p:cNvSpPr>
          <p:nvPr>
            <p:ph idx="1"/>
          </p:nvPr>
        </p:nvSpPr>
        <p:spPr>
          <a:xfrm>
            <a:off x="457200" y="2209800"/>
            <a:ext cx="8229600" cy="4267200"/>
          </a:xfrm>
        </p:spPr>
        <p:txBody>
          <a:bodyPr/>
          <a:lstStyle/>
          <a:p>
            <a:pPr marL="0" indent="0">
              <a:buNone/>
            </a:pPr>
            <a:r>
              <a:rPr lang="en-IN" sz="1800" b="1" dirty="0">
                <a:latin typeface="Times New Roman" panose="02020603050405020304" pitchFamily="18" charset="0"/>
              </a:rPr>
              <a:t>1. User :</a:t>
            </a:r>
          </a:p>
          <a:p>
            <a:pPr marL="0" indent="0" algn="just">
              <a:buNone/>
            </a:pPr>
            <a:r>
              <a:rPr lang="en-US" sz="1600" b="0" dirty="0">
                <a:latin typeface="Times New Roman" panose="02020603050405020304" pitchFamily="18" charset="0"/>
              </a:rPr>
              <a:t>User can load the CCTV videos. To start the project user has to give –input (Video file path).The open cv class </a:t>
            </a:r>
            <a:r>
              <a:rPr lang="en-US" sz="1600" b="0" dirty="0" err="1">
                <a:latin typeface="Times New Roman" panose="02020603050405020304" pitchFamily="18" charset="0"/>
              </a:rPr>
              <a:t>VideoCapture</a:t>
            </a:r>
            <a:r>
              <a:rPr lang="en-US" sz="1600" b="0" dirty="0">
                <a:latin typeface="Times New Roman" panose="02020603050405020304" pitchFamily="18" charset="0"/>
              </a:rPr>
              <a:t>(0) means primary camera of the system, </a:t>
            </a:r>
            <a:r>
              <a:rPr lang="en-US" sz="1600" b="0" dirty="0" err="1">
                <a:latin typeface="Times New Roman" panose="02020603050405020304" pitchFamily="18" charset="0"/>
              </a:rPr>
              <a:t>VideoCapture</a:t>
            </a:r>
            <a:r>
              <a:rPr lang="en-US" sz="1600" b="0" dirty="0">
                <a:latin typeface="Times New Roman" panose="02020603050405020304" pitchFamily="18" charset="0"/>
              </a:rPr>
              <a:t>(1) means secondary camera of the system. </a:t>
            </a:r>
            <a:r>
              <a:rPr lang="en-US" sz="1600" b="0" dirty="0" err="1">
                <a:latin typeface="Times New Roman" panose="02020603050405020304" pitchFamily="18" charset="0"/>
              </a:rPr>
              <a:t>VideoCapture</a:t>
            </a:r>
            <a:r>
              <a:rPr lang="en-US" sz="1600" b="0" dirty="0">
                <a:latin typeface="Times New Roman" panose="02020603050405020304" pitchFamily="18" charset="0"/>
              </a:rPr>
              <a:t>(</a:t>
            </a:r>
            <a:r>
              <a:rPr lang="en-US" sz="1600" b="0" dirty="0" err="1">
                <a:latin typeface="Times New Roman" panose="02020603050405020304" pitchFamily="18" charset="0"/>
              </a:rPr>
              <a:t>Videfile</a:t>
            </a:r>
            <a:r>
              <a:rPr lang="en-US" sz="1600" b="0" dirty="0">
                <a:latin typeface="Times New Roman" panose="02020603050405020304" pitchFamily="18" charset="0"/>
              </a:rPr>
              <a:t> path) means with out camera we can load the pre recorded video file to the system. After that user has to load the yolo object detection system which is implemented on RCNN concepts. This yolo module is used for identify the objects from each frame and name that. It can be identified humans things, fire, vehicles, etc.</a:t>
            </a:r>
          </a:p>
          <a:p>
            <a:pPr marL="0" indent="0">
              <a:buNone/>
            </a:pPr>
            <a:r>
              <a:rPr lang="en-IN" sz="1800" b="1" dirty="0">
                <a:latin typeface="Times New Roman" panose="02020603050405020304" pitchFamily="18" charset="0"/>
              </a:rPr>
              <a:t>2. Object Detection and Tracking :</a:t>
            </a:r>
          </a:p>
          <a:p>
            <a:pPr marL="0" indent="0" algn="just">
              <a:buNone/>
            </a:pPr>
            <a:r>
              <a:rPr lang="en-US" sz="1600" b="0" dirty="0">
                <a:latin typeface="Times New Roman" panose="02020603050405020304" pitchFamily="18" charset="0"/>
              </a:rPr>
              <a:t>Prior detection systems repurpose classifiers or localizers to perform detection. They apply the model to an image at multiple locations and scales. High scoring regions of the bounding box of the image are considered detections. We apply a Regional Convolution  neural network to the full image. This network divides the image into regions and predicts bounding boxes and probabilities for each region. These bounding boxes are weighted by the predicted probabilities. Our model has several advantages over classifier-based systems. It looks at the whole image at test time so its predictions are informed by global context in the image.</a:t>
            </a:r>
          </a:p>
          <a:p>
            <a:pPr algn="just"/>
            <a:endParaRPr lang="en" sz="1600" b="1" dirty="0">
              <a:latin typeface="Times New Roman" panose="02020603050405020304" pitchFamily="18" charset="0"/>
            </a:endParaRPr>
          </a:p>
        </p:txBody>
      </p:sp>
      <p:sp>
        <p:nvSpPr>
          <p:cNvPr id="4" name="Title 3">
            <a:extLst>
              <a:ext uri="{FF2B5EF4-FFF2-40B4-BE49-F238E27FC236}">
                <a16:creationId xmlns:a16="http://schemas.microsoft.com/office/drawing/2014/main" id="{79D8F9E0-F229-459F-89CA-5E177D75E648}"/>
              </a:ext>
            </a:extLst>
          </p:cNvPr>
          <p:cNvSpPr>
            <a:spLocks noGrp="1"/>
          </p:cNvSpPr>
          <p:nvPr>
            <p:ph type="title"/>
          </p:nvPr>
        </p:nvSpPr>
        <p:spPr>
          <a:xfrm>
            <a:off x="31030" y="-10212"/>
            <a:ext cx="4495800" cy="1867293"/>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chemeClr val="tx1">
                    <a:lumMod val="95000"/>
                    <a:lumOff val="5000"/>
                  </a:schemeClr>
                </a:solidFill>
                <a:latin typeface="Bookman Old Style" pitchFamily="18" charset="0"/>
              </a:rPr>
              <a:t>Modules</a:t>
            </a:r>
            <a:endParaRPr lang="en-IN" dirty="0"/>
          </a:p>
        </p:txBody>
      </p:sp>
      <p:sp>
        <p:nvSpPr>
          <p:cNvPr id="6" name="TextBox 5">
            <a:extLst>
              <a:ext uri="{FF2B5EF4-FFF2-40B4-BE49-F238E27FC236}">
                <a16:creationId xmlns:a16="http://schemas.microsoft.com/office/drawing/2014/main" id="{171CA062-29E6-4242-9699-486E645BEA55}"/>
              </a:ext>
            </a:extLst>
          </p:cNvPr>
          <p:cNvSpPr txBox="1"/>
          <p:nvPr/>
        </p:nvSpPr>
        <p:spPr>
          <a:xfrm>
            <a:off x="4520953" y="-10212"/>
            <a:ext cx="4617170" cy="1815882"/>
          </a:xfrm>
          <a:prstGeom prst="rect">
            <a:avLst/>
          </a:prstGeom>
          <a:solidFill>
            <a:srgbClr val="FDCF51"/>
          </a:solidFill>
        </p:spPr>
        <p:txBody>
          <a:bodyPr wrap="square">
            <a:spAutoFit/>
          </a:bodyP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Data Flow Diagrams/Algorithms/Techniques</a:t>
            </a:r>
            <a:endParaRPr lang="en-US" sz="1400" b="1" dirty="0">
              <a:solidFill>
                <a:schemeClr val="tx1">
                  <a:lumMod val="95000"/>
                  <a:lumOff val="5000"/>
                </a:schemeClr>
              </a:solidFill>
              <a:latin typeface="Bookman Old Style" pitchFamily="18" charset="0"/>
            </a:endParaRP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extLst>
      <p:ext uri="{BB962C8B-B14F-4D97-AF65-F5344CB8AC3E}">
        <p14:creationId xmlns:p14="http://schemas.microsoft.com/office/powerpoint/2010/main" val="1237107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AAEB48-13E9-4DF9-813F-2740A7FA9126}"/>
              </a:ext>
            </a:extLst>
          </p:cNvPr>
          <p:cNvSpPr>
            <a:spLocks noGrp="1"/>
          </p:cNvSpPr>
          <p:nvPr>
            <p:ph idx="1"/>
          </p:nvPr>
        </p:nvSpPr>
        <p:spPr>
          <a:xfrm>
            <a:off x="457200" y="2286000"/>
            <a:ext cx="8229600" cy="4267200"/>
          </a:xfrm>
        </p:spPr>
        <p:txBody>
          <a:bodyPr/>
          <a:lstStyle/>
          <a:p>
            <a:pPr marL="0" indent="0" algn="just">
              <a:buNone/>
            </a:pPr>
            <a:r>
              <a:rPr lang="en-IN" sz="2000" b="1" dirty="0">
                <a:latin typeface="Times New Roman" panose="02020603050405020304" pitchFamily="18" charset="0"/>
              </a:rPr>
              <a:t>3. RCNN(Regional Convolution Neural Network):</a:t>
            </a:r>
          </a:p>
          <a:p>
            <a:pPr marL="0" indent="0" algn="just">
              <a:buNone/>
            </a:pPr>
            <a:r>
              <a:rPr lang="en-US" sz="1800" b="0" dirty="0">
                <a:latin typeface="Times New Roman" panose="02020603050405020304" pitchFamily="18" charset="0"/>
              </a:rPr>
              <a:t>R-CNN models first select several proposed regions from an image (for example, anchor boxes are one type of selection method) and then label their categories and bounding boxes (e.g., offsets). Then, they use a CNN to perform forward computation to extract features from each proposed area. Afterwards, we use the features of each proposed region to predict their categories and bounding boxes. Then, based on the detected object information, a dependent object tracking module is initiated to assign the unique ID number to each of the detected objects, </a:t>
            </a:r>
            <a:r>
              <a:rPr lang="en-US" sz="1800" b="0" dirty="0" err="1">
                <a:latin typeface="Times New Roman" panose="02020603050405020304" pitchFamily="18" charset="0"/>
              </a:rPr>
              <a:t>IDt</a:t>
            </a:r>
            <a:r>
              <a:rPr lang="en-US" sz="1800" b="0" dirty="0">
                <a:latin typeface="Times New Roman" panose="02020603050405020304" pitchFamily="18" charset="0"/>
              </a:rPr>
              <a:t> and predict the next position of each of the objects, BBOX. The number of tracking </a:t>
            </a:r>
            <a:r>
              <a:rPr lang="en-US" sz="1800" b="0" dirty="0" err="1">
                <a:latin typeface="Times New Roman" panose="02020603050405020304" pitchFamily="18" charset="0"/>
              </a:rPr>
              <a:t>BBox</a:t>
            </a:r>
            <a:r>
              <a:rPr lang="en-US" sz="1800" b="0" dirty="0">
                <a:latin typeface="Times New Roman" panose="02020603050405020304" pitchFamily="18" charset="0"/>
              </a:rPr>
              <a:t> u is different from n. But If past tracked </a:t>
            </a:r>
            <a:r>
              <a:rPr lang="en-US" sz="1800" b="0" dirty="0" err="1">
                <a:latin typeface="Times New Roman" panose="02020603050405020304" pitchFamily="18" charset="0"/>
              </a:rPr>
              <a:t>BBox</a:t>
            </a:r>
            <a:r>
              <a:rPr lang="en-US" sz="1800" b="0" dirty="0">
                <a:latin typeface="Times New Roman" panose="02020603050405020304" pitchFamily="18" charset="0"/>
              </a:rPr>
              <a:t> is 0, the number of tracking </a:t>
            </a:r>
            <a:r>
              <a:rPr lang="en-US" sz="1800" b="0" dirty="0" err="1">
                <a:latin typeface="Times New Roman" panose="02020603050405020304" pitchFamily="18" charset="0"/>
              </a:rPr>
              <a:t>BBox</a:t>
            </a:r>
            <a:r>
              <a:rPr lang="en-US" sz="1800" b="0" dirty="0">
                <a:latin typeface="Times New Roman" panose="02020603050405020304" pitchFamily="18" charset="0"/>
              </a:rPr>
              <a:t> equals to the number of the detected objects.</a:t>
            </a:r>
          </a:p>
          <a:p>
            <a:pPr marL="0" indent="0" algn="just">
              <a:buNone/>
            </a:pPr>
            <a:endParaRPr lang="en" sz="1800" b="1" dirty="0">
              <a:latin typeface="Times New Roman" panose="02020603050405020304" pitchFamily="18" charset="0"/>
            </a:endParaRPr>
          </a:p>
        </p:txBody>
      </p:sp>
      <p:sp>
        <p:nvSpPr>
          <p:cNvPr id="4" name="Title 3">
            <a:extLst>
              <a:ext uri="{FF2B5EF4-FFF2-40B4-BE49-F238E27FC236}">
                <a16:creationId xmlns:a16="http://schemas.microsoft.com/office/drawing/2014/main" id="{79D8F9E0-F229-459F-89CA-5E177D75E648}"/>
              </a:ext>
            </a:extLst>
          </p:cNvPr>
          <p:cNvSpPr>
            <a:spLocks noGrp="1"/>
          </p:cNvSpPr>
          <p:nvPr>
            <p:ph type="title"/>
          </p:nvPr>
        </p:nvSpPr>
        <p:spPr>
          <a:xfrm>
            <a:off x="31030" y="-10212"/>
            <a:ext cx="4495800" cy="1867293"/>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chemeClr val="tx1">
                    <a:lumMod val="95000"/>
                    <a:lumOff val="5000"/>
                  </a:schemeClr>
                </a:solidFill>
                <a:latin typeface="Bookman Old Style" pitchFamily="18" charset="0"/>
              </a:rPr>
              <a:t>Modules</a:t>
            </a:r>
            <a:endParaRPr lang="en-IN" dirty="0"/>
          </a:p>
        </p:txBody>
      </p:sp>
      <p:sp>
        <p:nvSpPr>
          <p:cNvPr id="6" name="TextBox 5">
            <a:extLst>
              <a:ext uri="{FF2B5EF4-FFF2-40B4-BE49-F238E27FC236}">
                <a16:creationId xmlns:a16="http://schemas.microsoft.com/office/drawing/2014/main" id="{171CA062-29E6-4242-9699-486E645BEA55}"/>
              </a:ext>
            </a:extLst>
          </p:cNvPr>
          <p:cNvSpPr txBox="1"/>
          <p:nvPr/>
        </p:nvSpPr>
        <p:spPr>
          <a:xfrm>
            <a:off x="4526830" y="0"/>
            <a:ext cx="4661558" cy="1822185"/>
          </a:xfrm>
          <a:prstGeom prst="rect">
            <a:avLst/>
          </a:prstGeom>
          <a:solidFill>
            <a:srgbClr val="FDCF51"/>
          </a:solidFill>
        </p:spPr>
        <p:txBody>
          <a:bodyPr wrap="square">
            <a:spAutoFit/>
          </a:bodyP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Data Flow Diagrams/Algorithms/Techniques</a:t>
            </a:r>
            <a:endParaRPr lang="en-US" sz="1400" b="1" dirty="0">
              <a:solidFill>
                <a:schemeClr val="tx1">
                  <a:lumMod val="95000"/>
                  <a:lumOff val="5000"/>
                </a:schemeClr>
              </a:solidFill>
              <a:latin typeface="Bookman Old Style" pitchFamily="18" charset="0"/>
            </a:endParaRP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extLst>
      <p:ext uri="{BB962C8B-B14F-4D97-AF65-F5344CB8AC3E}">
        <p14:creationId xmlns:p14="http://schemas.microsoft.com/office/powerpoint/2010/main" val="3422108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AAEB48-13E9-4DF9-813F-2740A7FA9126}"/>
              </a:ext>
            </a:extLst>
          </p:cNvPr>
          <p:cNvSpPr>
            <a:spLocks noGrp="1"/>
          </p:cNvSpPr>
          <p:nvPr>
            <p:ph idx="1"/>
          </p:nvPr>
        </p:nvSpPr>
        <p:spPr>
          <a:xfrm>
            <a:off x="457200" y="2286000"/>
            <a:ext cx="8229600" cy="4267200"/>
          </a:xfrm>
        </p:spPr>
        <p:txBody>
          <a:bodyPr/>
          <a:lstStyle/>
          <a:p>
            <a:pPr marL="0" indent="0" algn="just">
              <a:buNone/>
            </a:pPr>
            <a:r>
              <a:rPr lang="en-IN" sz="2000" b="1" dirty="0">
                <a:latin typeface="Times New Roman" panose="02020603050405020304" pitchFamily="18" charset="0"/>
              </a:rPr>
              <a:t>4. Average Precision:</a:t>
            </a:r>
          </a:p>
          <a:p>
            <a:pPr marL="0" indent="0" algn="just">
              <a:buNone/>
            </a:pPr>
            <a:r>
              <a:rPr lang="en-US" sz="1800" b="0" dirty="0">
                <a:latin typeface="Times New Roman" panose="02020603050405020304" pitchFamily="18" charset="0"/>
              </a:rPr>
              <a:t>AP values for the target objects to be detected in the training dataset, the number of Car objects is the largest object and very high AP value was obtained for the Car object in comparison with other classes. That is, the object detection performance of deep running of the Car in the video was expected to be highly reliable.</a:t>
            </a:r>
          </a:p>
          <a:p>
            <a:pPr marL="0" indent="0" algn="just">
              <a:buNone/>
            </a:pPr>
            <a:r>
              <a:rPr lang="en-US" sz="1800" b="0" dirty="0">
                <a:latin typeface="Times New Roman" panose="02020603050405020304" pitchFamily="18" charset="0"/>
              </a:rPr>
              <a:t>On the other hand, AP for Person object results in relatively low value because Person object exists long, tiny shape in small size. The AP of Fire object was high, but false detection for the object might be highly possible as the number of the objects available for training was very small, Nonetheless, training about deep learning, including No Fire objects, could reduce the false detection of Fire object. However, to detect the Fire in the tunnel control center, it was necessary to collect and involve more images of a Fire event in training.</a:t>
            </a:r>
          </a:p>
        </p:txBody>
      </p:sp>
      <p:sp>
        <p:nvSpPr>
          <p:cNvPr id="4" name="Title 3">
            <a:extLst>
              <a:ext uri="{FF2B5EF4-FFF2-40B4-BE49-F238E27FC236}">
                <a16:creationId xmlns:a16="http://schemas.microsoft.com/office/drawing/2014/main" id="{79D8F9E0-F229-459F-89CA-5E177D75E648}"/>
              </a:ext>
            </a:extLst>
          </p:cNvPr>
          <p:cNvSpPr>
            <a:spLocks noGrp="1"/>
          </p:cNvSpPr>
          <p:nvPr>
            <p:ph type="title"/>
          </p:nvPr>
        </p:nvSpPr>
        <p:spPr>
          <a:xfrm>
            <a:off x="0" y="-25706"/>
            <a:ext cx="4495800" cy="1867293"/>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chemeClr val="tx1">
                    <a:lumMod val="95000"/>
                    <a:lumOff val="5000"/>
                  </a:schemeClr>
                </a:solidFill>
                <a:latin typeface="Bookman Old Style" pitchFamily="18" charset="0"/>
              </a:rPr>
              <a:t>Modules</a:t>
            </a:r>
            <a:endParaRPr lang="en-IN" dirty="0"/>
          </a:p>
        </p:txBody>
      </p:sp>
      <p:sp>
        <p:nvSpPr>
          <p:cNvPr id="6" name="TextBox 5">
            <a:extLst>
              <a:ext uri="{FF2B5EF4-FFF2-40B4-BE49-F238E27FC236}">
                <a16:creationId xmlns:a16="http://schemas.microsoft.com/office/drawing/2014/main" id="{171CA062-29E6-4242-9699-486E645BEA55}"/>
              </a:ext>
            </a:extLst>
          </p:cNvPr>
          <p:cNvSpPr txBox="1"/>
          <p:nvPr/>
        </p:nvSpPr>
        <p:spPr>
          <a:xfrm>
            <a:off x="4526830" y="0"/>
            <a:ext cx="4617170" cy="1815882"/>
          </a:xfrm>
          <a:prstGeom prst="rect">
            <a:avLst/>
          </a:prstGeom>
          <a:solidFill>
            <a:srgbClr val="FDCF51"/>
          </a:solidFill>
        </p:spPr>
        <p:txBody>
          <a:bodyPr wrap="square">
            <a:spAutoFit/>
          </a:bodyP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Data Flow Diagrams/Algorithms/Techniques</a:t>
            </a:r>
            <a:endParaRPr lang="en-US" sz="1400" b="1" dirty="0">
              <a:solidFill>
                <a:schemeClr val="tx1">
                  <a:lumMod val="95000"/>
                  <a:lumOff val="5000"/>
                </a:schemeClr>
              </a:solidFill>
              <a:latin typeface="Bookman Old Style" pitchFamily="18" charset="0"/>
            </a:endParaRP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extLst>
      <p:ext uri="{BB962C8B-B14F-4D97-AF65-F5344CB8AC3E}">
        <p14:creationId xmlns:p14="http://schemas.microsoft.com/office/powerpoint/2010/main" val="2487259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D8F9E0-F229-459F-89CA-5E177D75E648}"/>
              </a:ext>
            </a:extLst>
          </p:cNvPr>
          <p:cNvSpPr>
            <a:spLocks noGrp="1"/>
          </p:cNvSpPr>
          <p:nvPr>
            <p:ph type="title"/>
          </p:nvPr>
        </p:nvSpPr>
        <p:spPr>
          <a:xfrm>
            <a:off x="0" y="-10212"/>
            <a:ext cx="4526830" cy="1867293"/>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200" dirty="0">
                <a:solidFill>
                  <a:schemeClr val="tx1">
                    <a:lumMod val="95000"/>
                    <a:lumOff val="5000"/>
                  </a:schemeClr>
                </a:solidFill>
                <a:latin typeface="Bookman Old Style" pitchFamily="18" charset="0"/>
              </a:rPr>
              <a:t>Data Flow Diagrams/Algorithms/Techniques</a:t>
            </a:r>
            <a:endParaRPr lang="en-US" sz="3200" b="1" dirty="0">
              <a:solidFill>
                <a:schemeClr val="tx1">
                  <a:lumMod val="95000"/>
                  <a:lumOff val="5000"/>
                </a:schemeClr>
              </a:solidFill>
              <a:latin typeface="Bookman Old Style" pitchFamily="18" charset="0"/>
            </a:endParaRPr>
          </a:p>
        </p:txBody>
      </p:sp>
      <p:sp>
        <p:nvSpPr>
          <p:cNvPr id="6" name="TextBox 5">
            <a:extLst>
              <a:ext uri="{FF2B5EF4-FFF2-40B4-BE49-F238E27FC236}">
                <a16:creationId xmlns:a16="http://schemas.microsoft.com/office/drawing/2014/main" id="{171CA062-29E6-4242-9699-486E645BEA55}"/>
              </a:ext>
            </a:extLst>
          </p:cNvPr>
          <p:cNvSpPr txBox="1"/>
          <p:nvPr/>
        </p:nvSpPr>
        <p:spPr>
          <a:xfrm>
            <a:off x="4526830" y="-22979"/>
            <a:ext cx="4617170" cy="1815882"/>
          </a:xfrm>
          <a:prstGeom prst="rect">
            <a:avLst/>
          </a:prstGeom>
          <a:solidFill>
            <a:srgbClr val="FDCF51"/>
          </a:solidFill>
        </p:spPr>
        <p:txBody>
          <a:bodyPr wrap="square">
            <a:spAutoFit/>
          </a:bodyP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Data Flow Diagrams/Algorithms/Techniques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
        <p:nvSpPr>
          <p:cNvPr id="15" name="TextBox 14">
            <a:extLst>
              <a:ext uri="{FF2B5EF4-FFF2-40B4-BE49-F238E27FC236}">
                <a16:creationId xmlns:a16="http://schemas.microsoft.com/office/drawing/2014/main" id="{87D13676-F50B-4104-B7EF-07377F42A3A7}"/>
              </a:ext>
            </a:extLst>
          </p:cNvPr>
          <p:cNvSpPr txBox="1"/>
          <p:nvPr/>
        </p:nvSpPr>
        <p:spPr>
          <a:xfrm>
            <a:off x="0" y="2617142"/>
            <a:ext cx="2579703" cy="461665"/>
          </a:xfrm>
          <a:prstGeom prst="rect">
            <a:avLst/>
          </a:prstGeom>
          <a:noFill/>
        </p:spPr>
        <p:txBody>
          <a:bodyPr wrap="square" rtlCol="0">
            <a:spAutoFit/>
          </a:bodyPr>
          <a:lstStyle/>
          <a:p>
            <a:r>
              <a:rPr lang="en-IN" sz="2400" dirty="0"/>
              <a:t>Object Detection :</a:t>
            </a:r>
          </a:p>
        </p:txBody>
      </p:sp>
      <p:pic>
        <p:nvPicPr>
          <p:cNvPr id="1026" name="Picture 2" descr="Image for post">
            <a:extLst>
              <a:ext uri="{FF2B5EF4-FFF2-40B4-BE49-F238E27FC236}">
                <a16:creationId xmlns:a16="http://schemas.microsoft.com/office/drawing/2014/main" id="{38CA984F-506A-4EF8-B7E7-D0B982A4FE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4192" y="1981200"/>
            <a:ext cx="6343650"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for post">
            <a:extLst>
              <a:ext uri="{FF2B5EF4-FFF2-40B4-BE49-F238E27FC236}">
                <a16:creationId xmlns:a16="http://schemas.microsoft.com/office/drawing/2014/main" id="{EBD7AF13-910B-4ABA-A905-A1A08AC803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038600"/>
            <a:ext cx="6110287" cy="2614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633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D8F9E0-F229-459F-89CA-5E177D75E648}"/>
              </a:ext>
            </a:extLst>
          </p:cNvPr>
          <p:cNvSpPr>
            <a:spLocks noGrp="1"/>
          </p:cNvSpPr>
          <p:nvPr>
            <p:ph type="title"/>
          </p:nvPr>
        </p:nvSpPr>
        <p:spPr>
          <a:xfrm>
            <a:off x="0" y="-10212"/>
            <a:ext cx="4526830" cy="1867293"/>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200" dirty="0">
                <a:solidFill>
                  <a:schemeClr val="tx1">
                    <a:lumMod val="95000"/>
                    <a:lumOff val="5000"/>
                  </a:schemeClr>
                </a:solidFill>
                <a:latin typeface="Bookman Old Style" pitchFamily="18" charset="0"/>
              </a:rPr>
              <a:t>Data Flow Diagrams/Algorithms/Techniques</a:t>
            </a:r>
            <a:endParaRPr lang="en-US" sz="3200" b="1" dirty="0">
              <a:solidFill>
                <a:schemeClr val="tx1">
                  <a:lumMod val="95000"/>
                  <a:lumOff val="5000"/>
                </a:schemeClr>
              </a:solidFill>
              <a:latin typeface="Bookman Old Style" pitchFamily="18" charset="0"/>
            </a:endParaRPr>
          </a:p>
        </p:txBody>
      </p:sp>
      <p:sp>
        <p:nvSpPr>
          <p:cNvPr id="6" name="TextBox 5">
            <a:extLst>
              <a:ext uri="{FF2B5EF4-FFF2-40B4-BE49-F238E27FC236}">
                <a16:creationId xmlns:a16="http://schemas.microsoft.com/office/drawing/2014/main" id="{171CA062-29E6-4242-9699-486E645BEA55}"/>
              </a:ext>
            </a:extLst>
          </p:cNvPr>
          <p:cNvSpPr txBox="1"/>
          <p:nvPr/>
        </p:nvSpPr>
        <p:spPr>
          <a:xfrm>
            <a:off x="4526830" y="55255"/>
            <a:ext cx="4617170" cy="1815882"/>
          </a:xfrm>
          <a:prstGeom prst="rect">
            <a:avLst/>
          </a:prstGeom>
          <a:solidFill>
            <a:srgbClr val="FDCF51"/>
          </a:solidFill>
        </p:spPr>
        <p:txBody>
          <a:bodyPr wrap="square">
            <a:spAutoFit/>
          </a:bodyP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Data Flow Diagrams/Algorithms/Techniques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pic>
        <p:nvPicPr>
          <p:cNvPr id="2050" name="Picture 2">
            <a:extLst>
              <a:ext uri="{FF2B5EF4-FFF2-40B4-BE49-F238E27FC236}">
                <a16:creationId xmlns:a16="http://schemas.microsoft.com/office/drawing/2014/main" id="{6DF62A4E-3497-468E-A152-C0DDF10F5A4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64430" y="2133600"/>
            <a:ext cx="7924800" cy="4437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872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D8F9E0-F229-459F-89CA-5E177D75E648}"/>
              </a:ext>
            </a:extLst>
          </p:cNvPr>
          <p:cNvSpPr>
            <a:spLocks noGrp="1"/>
          </p:cNvSpPr>
          <p:nvPr>
            <p:ph type="title"/>
          </p:nvPr>
        </p:nvSpPr>
        <p:spPr>
          <a:xfrm>
            <a:off x="0" y="-10212"/>
            <a:ext cx="4526830" cy="1867293"/>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200" dirty="0">
                <a:solidFill>
                  <a:schemeClr val="tx1">
                    <a:lumMod val="95000"/>
                    <a:lumOff val="5000"/>
                  </a:schemeClr>
                </a:solidFill>
                <a:latin typeface="Bookman Old Style" pitchFamily="18" charset="0"/>
              </a:rPr>
              <a:t>Data Flow Diagrams/Algorithms/Techniques</a:t>
            </a:r>
            <a:endParaRPr lang="en-US" sz="3200" b="1" dirty="0">
              <a:solidFill>
                <a:schemeClr val="tx1">
                  <a:lumMod val="95000"/>
                  <a:lumOff val="5000"/>
                </a:schemeClr>
              </a:solidFill>
              <a:latin typeface="Bookman Old Style" pitchFamily="18" charset="0"/>
            </a:endParaRPr>
          </a:p>
        </p:txBody>
      </p:sp>
      <p:sp>
        <p:nvSpPr>
          <p:cNvPr id="6" name="TextBox 5">
            <a:extLst>
              <a:ext uri="{FF2B5EF4-FFF2-40B4-BE49-F238E27FC236}">
                <a16:creationId xmlns:a16="http://schemas.microsoft.com/office/drawing/2014/main" id="{171CA062-29E6-4242-9699-486E645BEA55}"/>
              </a:ext>
            </a:extLst>
          </p:cNvPr>
          <p:cNvSpPr txBox="1"/>
          <p:nvPr/>
        </p:nvSpPr>
        <p:spPr>
          <a:xfrm>
            <a:off x="4526830" y="-22979"/>
            <a:ext cx="4617170" cy="1815882"/>
          </a:xfrm>
          <a:prstGeom prst="rect">
            <a:avLst/>
          </a:prstGeom>
          <a:solidFill>
            <a:srgbClr val="FDCF51"/>
          </a:solidFill>
        </p:spPr>
        <p:txBody>
          <a:bodyPr wrap="square">
            <a:spAutoFit/>
          </a:bodyP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Data Flow Diagrams/Algorithms/Techniques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pic>
        <p:nvPicPr>
          <p:cNvPr id="5" name="Picture 4">
            <a:extLst>
              <a:ext uri="{FF2B5EF4-FFF2-40B4-BE49-F238E27FC236}">
                <a16:creationId xmlns:a16="http://schemas.microsoft.com/office/drawing/2014/main" id="{CE952347-EC0A-444E-91FC-993406AB68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989" y="2438400"/>
            <a:ext cx="7359681" cy="3948809"/>
          </a:xfrm>
          <a:prstGeom prst="rect">
            <a:avLst/>
          </a:prstGeom>
        </p:spPr>
      </p:pic>
    </p:spTree>
    <p:extLst>
      <p:ext uri="{BB962C8B-B14F-4D97-AF65-F5344CB8AC3E}">
        <p14:creationId xmlns:p14="http://schemas.microsoft.com/office/powerpoint/2010/main" val="364995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1364440"/>
            <a:ext cx="4795838" cy="646331"/>
          </a:xfrm>
          <a:prstGeom prst="rect">
            <a:avLst/>
          </a:prstGeom>
          <a:noFill/>
        </p:spPr>
        <p:txBody>
          <a:bodyPr>
            <a:spAutoFit/>
          </a:bodyPr>
          <a:lstStyle/>
          <a:p>
            <a:pPr fontAlgn="auto">
              <a:spcBef>
                <a:spcPts val="0"/>
              </a:spcBef>
              <a:spcAft>
                <a:spcPts val="0"/>
              </a:spcAft>
              <a:defRPr/>
            </a:pPr>
            <a:r>
              <a:rPr lang="en-GB" sz="3600" dirty="0">
                <a:solidFill>
                  <a:schemeClr val="tx2">
                    <a:lumMod val="75000"/>
                  </a:schemeClr>
                </a:solidFill>
                <a:latin typeface="Bookman Old Style" pitchFamily="18" charset="0"/>
                <a:cs typeface="Times New Roman" pitchFamily="18" charset="0"/>
              </a:rPr>
              <a:t>References</a:t>
            </a:r>
          </a:p>
        </p:txBody>
      </p:sp>
      <p:sp>
        <p:nvSpPr>
          <p:cNvPr id="4104" name="TextBox 4"/>
          <p:cNvSpPr txBox="1">
            <a:spLocks noChangeArrowheads="1"/>
          </p:cNvSpPr>
          <p:nvPr/>
        </p:nvSpPr>
        <p:spPr bwMode="auto">
          <a:xfrm>
            <a:off x="295406" y="2307372"/>
            <a:ext cx="8382000"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353183" y="2743200"/>
            <a:ext cx="8437634" cy="4414897"/>
          </a:xfrm>
        </p:spPr>
        <p:txBody>
          <a:bodyPr/>
          <a:lstStyle/>
          <a:p>
            <a:pPr>
              <a:buFont typeface="+mj-lt"/>
              <a:buAutoNum type="arabicPeriod"/>
            </a:pPr>
            <a:r>
              <a:rPr lang="en-US" sz="1800" dirty="0">
                <a:latin typeface="Times New Roman" panose="02020603050405020304" pitchFamily="18" charset="0"/>
              </a:rPr>
              <a:t>Kyu </a:t>
            </a:r>
            <a:r>
              <a:rPr lang="en-US" sz="1800" dirty="0" err="1">
                <a:latin typeface="Times New Roman" panose="02020603050405020304" pitchFamily="18" charset="0"/>
              </a:rPr>
              <a:t>Beom</a:t>
            </a:r>
            <a:r>
              <a:rPr lang="en-US" sz="1800" dirty="0">
                <a:latin typeface="Times New Roman" panose="02020603050405020304" pitchFamily="18" charset="0"/>
              </a:rPr>
              <a:t> Lee, </a:t>
            </a:r>
            <a:r>
              <a:rPr lang="en-US" sz="1800" dirty="0" err="1">
                <a:latin typeface="Times New Roman" panose="02020603050405020304" pitchFamily="18" charset="0"/>
              </a:rPr>
              <a:t>Hyu</a:t>
            </a:r>
            <a:r>
              <a:rPr lang="en-US" sz="1800" dirty="0">
                <a:latin typeface="Times New Roman" panose="02020603050405020304" pitchFamily="18" charset="0"/>
              </a:rPr>
              <a:t> </a:t>
            </a:r>
            <a:r>
              <a:rPr lang="en-US" sz="1800" dirty="0" err="1">
                <a:latin typeface="Times New Roman" panose="02020603050405020304" pitchFamily="18" charset="0"/>
              </a:rPr>
              <a:t>Soung</a:t>
            </a:r>
            <a:r>
              <a:rPr lang="en-US" sz="1800" dirty="0">
                <a:latin typeface="Times New Roman" panose="02020603050405020304" pitchFamily="18" charset="0"/>
              </a:rPr>
              <a:t> Shin Department of Extreme Environment Research Center Department of Extreme Environment Research Center Korea Institute of Civil Engineering and Building Technology (KICT).</a:t>
            </a:r>
          </a:p>
          <a:p>
            <a:pPr>
              <a:buFont typeface="+mj-lt"/>
              <a:buAutoNum type="arabicPeriod"/>
            </a:pPr>
            <a:r>
              <a:rPr lang="en-US" sz="1800" dirty="0">
                <a:latin typeface="Times New Roman" panose="02020603050405020304" pitchFamily="18" charset="0"/>
              </a:rPr>
              <a:t>University of Science &amp; Technology (UST) Korea Institute of Civil Engineering and Building Technology (KICT) Gyeonggi-Do , The Republic of Korea" </a:t>
            </a:r>
            <a:r>
              <a:rPr lang="en-US" sz="1800" dirty="0">
                <a:latin typeface="Calibri" panose="020F0502020204030204" pitchFamily="34" charset="0"/>
              </a:rPr>
              <a:t> </a:t>
            </a:r>
            <a:r>
              <a:rPr lang="en-US" sz="1800" b="1" dirty="0">
                <a:latin typeface="Times New Roman" panose="02020603050405020304" pitchFamily="18" charset="0"/>
              </a:rPr>
              <a:t>An application of a deep learning algorithm for automatic detection of unexpected accidents under bad CCTV monitoring conditions in tunnels</a:t>
            </a:r>
            <a:r>
              <a:rPr lang="en-US" sz="1800" b="0" dirty="0">
                <a:latin typeface="Times New Roman" panose="02020603050405020304" pitchFamily="18" charset="0"/>
              </a:rPr>
              <a:t>" International Conference on Deep Learning and Machine Learning in Emerging Applications Date Added to IEEE Xplore: 21 October 2019 INSPEC Accession Number: 19080528 DOI: 10.1109/Deep-ML.2019.00010</a:t>
            </a:r>
            <a:endParaRPr lang="en-US" sz="1800" b="1" u="sng" dirty="0">
              <a:latin typeface="Times New Roman" panose="02020603050405020304" pitchFamily="18" charset="0"/>
            </a:endParaRPr>
          </a:p>
          <a:p>
            <a:pPr>
              <a:buFont typeface="+mj-lt"/>
              <a:buAutoNum type="arabicPeriod"/>
            </a:pPr>
            <a:endParaRPr lang="en-US" sz="1800" dirty="0">
              <a:latin typeface="Bookman Old Style" panose="02050604050505020204" pitchFamily="18" charset="0"/>
            </a:endParaRPr>
          </a:p>
        </p:txBody>
      </p:sp>
      <p:sp>
        <p:nvSpPr>
          <p:cNvPr id="11" name="Rectangle 10">
            <a:extLst>
              <a:ext uri="{FF2B5EF4-FFF2-40B4-BE49-F238E27FC236}">
                <a16:creationId xmlns:a16="http://schemas.microsoft.com/office/drawing/2014/main" id="{F853103C-7D5F-461F-B9B9-9F8B8A8F7242}"/>
              </a:ext>
            </a:extLst>
          </p:cNvPr>
          <p:cNvSpPr/>
          <p:nvPr/>
        </p:nvSpPr>
        <p:spPr>
          <a:xfrm>
            <a:off x="4795838" y="0"/>
            <a:ext cx="4348162" cy="198141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Proposed</a:t>
            </a:r>
            <a:r>
              <a:rPr lang="en-US" sz="1400" b="1" dirty="0">
                <a:solidFill>
                  <a:schemeClr val="tx1">
                    <a:lumMod val="95000"/>
                    <a:lumOff val="5000"/>
                  </a:schemeClr>
                </a:solidFill>
                <a:latin typeface="Bookman Old Style" pitchFamily="18" charset="0"/>
              </a:rPr>
              <a:t> </a:t>
            </a:r>
            <a:r>
              <a:rPr lang="en-US" sz="1400" dirty="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a:solidFill>
                  <a:schemeClr val="tx1">
                    <a:lumMod val="95000"/>
                    <a:lumOff val="5000"/>
                  </a:schemeClr>
                </a:solidFill>
                <a:latin typeface="Bookman Old Style" pitchFamily="18" charset="0"/>
              </a:rPr>
              <a:t>Data Flow Diagrams/Algorithms/Techniques</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References</a:t>
            </a:r>
          </a:p>
        </p:txBody>
      </p:sp>
    </p:spTree>
    <p:extLst>
      <p:ext uri="{BB962C8B-B14F-4D97-AF65-F5344CB8AC3E}">
        <p14:creationId xmlns:p14="http://schemas.microsoft.com/office/powerpoint/2010/main" val="743361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800600" y="0"/>
            <a:ext cx="4343400" cy="1570038"/>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0" y="0"/>
            <a:ext cx="4795838" cy="157003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TextBox 5"/>
          <p:cNvSpPr txBox="1"/>
          <p:nvPr/>
        </p:nvSpPr>
        <p:spPr>
          <a:xfrm>
            <a:off x="0" y="3100388"/>
            <a:ext cx="9144000" cy="862012"/>
          </a:xfrm>
          <a:prstGeom prst="rect">
            <a:avLst/>
          </a:prstGeom>
          <a:solidFill>
            <a:srgbClr val="FFFFCC"/>
          </a:solidFill>
        </p:spPr>
        <p:txBody>
          <a:bodyPr>
            <a:spAutoFit/>
          </a:bodyPr>
          <a:lstStyle/>
          <a:p>
            <a:pPr algn="ctr" fontAlgn="auto">
              <a:spcBef>
                <a:spcPts val="0"/>
              </a:spcBef>
              <a:spcAft>
                <a:spcPts val="0"/>
              </a:spcAft>
              <a:defRPr/>
            </a:pPr>
            <a:endParaRPr lang="en-IN" sz="5000" dirty="0">
              <a:solidFill>
                <a:schemeClr val="accent2">
                  <a:lumMod val="75000"/>
                </a:schemeClr>
              </a:solidFill>
              <a:latin typeface="Times New Roman" pitchFamily="18" charset="0"/>
              <a:cs typeface="Times New Roman" pitchFamily="18" charset="0"/>
            </a:endParaRPr>
          </a:p>
        </p:txBody>
      </p:sp>
      <p:sp>
        <p:nvSpPr>
          <p:cNvPr id="10245" name="TextBox 1"/>
          <p:cNvSpPr txBox="1">
            <a:spLocks noChangeArrowheads="1"/>
          </p:cNvSpPr>
          <p:nvPr/>
        </p:nvSpPr>
        <p:spPr bwMode="auto">
          <a:xfrm>
            <a:off x="4343400" y="2667000"/>
            <a:ext cx="990600" cy="1631950"/>
          </a:xfrm>
          <a:prstGeom prst="rect">
            <a:avLst/>
          </a:prstGeom>
          <a:noFill/>
          <a:ln w="9525">
            <a:noFill/>
            <a:miter lim="800000"/>
            <a:headEnd/>
            <a:tailEnd/>
          </a:ln>
        </p:spPr>
        <p:txBody>
          <a:bodyPr>
            <a:spAutoFit/>
          </a:bodyPr>
          <a:lstStyle/>
          <a:p>
            <a:r>
              <a:rPr lang="en-US" sz="10000" dirty="0">
                <a:latin typeface="Times New Roman" pitchFamily="18" charset="0"/>
                <a:cs typeface="Times New Roman" pitchFamily="18" charset="0"/>
              </a:rPr>
              <a:t>?</a:t>
            </a:r>
          </a:p>
        </p:txBody>
      </p:sp>
      <p:sp>
        <p:nvSpPr>
          <p:cNvPr id="10246" name="TextBox 1"/>
          <p:cNvSpPr txBox="1">
            <a:spLocks noChangeArrowheads="1"/>
          </p:cNvSpPr>
          <p:nvPr/>
        </p:nvSpPr>
        <p:spPr bwMode="auto">
          <a:xfrm>
            <a:off x="2895600" y="123825"/>
            <a:ext cx="4343400" cy="1400175"/>
          </a:xfrm>
          <a:prstGeom prst="rect">
            <a:avLst/>
          </a:prstGeom>
          <a:noFill/>
          <a:ln w="9525">
            <a:noFill/>
            <a:miter lim="800000"/>
            <a:headEnd/>
            <a:tailEnd/>
          </a:ln>
        </p:spPr>
        <p:txBody>
          <a:bodyPr>
            <a:spAutoFit/>
          </a:bodyPr>
          <a:lstStyle/>
          <a:p>
            <a:r>
              <a:rPr lang="en-US" sz="8500">
                <a:latin typeface="Times New Roman" pitchFamily="18" charset="0"/>
                <a:cs typeface="Times New Roman" pitchFamily="18" charset="0"/>
              </a:rPr>
              <a:t>Q and A?</a:t>
            </a:r>
          </a:p>
        </p:txBody>
      </p:sp>
      <p:sp>
        <p:nvSpPr>
          <p:cNvPr id="10" name="TextBox 9"/>
          <p:cNvSpPr txBox="1"/>
          <p:nvPr/>
        </p:nvSpPr>
        <p:spPr>
          <a:xfrm>
            <a:off x="0" y="6553200"/>
            <a:ext cx="9144000" cy="307975"/>
          </a:xfrm>
          <a:prstGeom prst="rect">
            <a:avLst/>
          </a:prstGeom>
          <a:solidFill>
            <a:srgbClr val="04064C"/>
          </a:solidFill>
        </p:spPr>
        <p:txBody>
          <a:bodyPr>
            <a:spAutoFit/>
          </a:bodyPr>
          <a:lstStyle/>
          <a:p>
            <a:pPr algn="r" fontAlgn="auto">
              <a:spcBef>
                <a:spcPts val="0"/>
              </a:spcBef>
              <a:spcAft>
                <a:spcPts val="0"/>
              </a:spcAft>
              <a:defRPr/>
            </a:pPr>
            <a:endParaRPr lang="en-US" sz="1350" b="1" dirty="0">
              <a:solidFill>
                <a:schemeClr val="bg1"/>
              </a:solidFill>
              <a:latin typeface="Arial" pitchFamily="34" charset="0"/>
              <a:cs typeface="Arial" pitchFamily="34" charset="0"/>
            </a:endParaRPr>
          </a:p>
        </p:txBody>
      </p:sp>
      <p:sp>
        <p:nvSpPr>
          <p:cNvPr id="2" name="TextBox 1"/>
          <p:cNvSpPr txBox="1"/>
          <p:nvPr/>
        </p:nvSpPr>
        <p:spPr>
          <a:xfrm>
            <a:off x="2971800" y="5727940"/>
            <a:ext cx="3464346" cy="707886"/>
          </a:xfrm>
          <a:prstGeom prst="rect">
            <a:avLst/>
          </a:prstGeom>
          <a:noFill/>
        </p:spPr>
        <p:txBody>
          <a:bodyPr wrap="none" rtlCol="0">
            <a:spAutoFit/>
          </a:bodyPr>
          <a:lstStyle/>
          <a:p>
            <a:r>
              <a:rPr lang="en-IN" sz="4000" dirty="0">
                <a:solidFill>
                  <a:srgbClr val="C00000"/>
                </a:solidFill>
                <a:latin typeface="Broadway" panose="04040905080B02020502" pitchFamily="82" charset="0"/>
              </a:rPr>
              <a:t>THANK YOU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TotalTime>
  <Words>1898</Words>
  <Application>Microsoft Office PowerPoint</Application>
  <PresentationFormat>On-screen Show (4:3)</PresentationFormat>
  <Paragraphs>218</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Bookman Old Style</vt:lpstr>
      <vt:lpstr>Broadway</vt:lpstr>
      <vt:lpstr>Calibri</vt:lpstr>
      <vt:lpstr>Franklin Gothic Medium</vt:lpstr>
      <vt:lpstr>Times New Roman</vt:lpstr>
      <vt:lpstr>Office Theme</vt:lpstr>
      <vt:lpstr>Automatic detection of unexpected accidents under bad CCTV monitoring conditions</vt:lpstr>
      <vt:lpstr>PowerPoint Presentation</vt:lpstr>
      <vt:lpstr>PowerPoint Presentation</vt:lpstr>
      <vt:lpstr>PowerPoint Presentation</vt:lpstr>
      <vt:lpstr>PowerPoint Presentation</vt:lpstr>
      <vt:lpstr>PowerPoint Presentation</vt:lpstr>
      <vt:lpstr>Modules</vt:lpstr>
      <vt:lpstr>Modules</vt:lpstr>
      <vt:lpstr>Modules</vt:lpstr>
      <vt:lpstr>Data Flow Diagrams/Algorithms/Techniques</vt:lpstr>
      <vt:lpstr>Data Flow Diagrams/Algorithms/Techniques</vt:lpstr>
      <vt:lpstr>Data Flow Diagrams/Algorithms/Techniques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Sambit</dc:creator>
  <cp:lastModifiedBy>sawan dasari</cp:lastModifiedBy>
  <cp:revision>195</cp:revision>
  <dcterms:created xsi:type="dcterms:W3CDTF">2013-05-08T19:42:37Z</dcterms:created>
  <dcterms:modified xsi:type="dcterms:W3CDTF">2021-03-13T04:55:28Z</dcterms:modified>
</cp:coreProperties>
</file>